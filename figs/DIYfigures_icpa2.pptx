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58"/>
  </p:normalViewPr>
  <p:slideViewPr>
    <p:cSldViewPr snapToGrid="0">
      <p:cViewPr varScale="1">
        <p:scale>
          <a:sx n="116" d="100"/>
          <a:sy n="116" d="100"/>
        </p:scale>
        <p:origin x="7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D67A2-3998-1741-A572-96ADB5DE7BBF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04B04-4CEB-2647-96CF-6A0625877C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3697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04B04-4CEB-2647-96CF-6A0625877C42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6681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04B04-4CEB-2647-96CF-6A0625877C42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7020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04B04-4CEB-2647-96CF-6A0625877C42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7589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FC94A9-214E-82F1-2A6E-8FF099EB5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542276C-9C0B-9C69-ED5B-16AE9F2FF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02BD91-0D81-0BAC-A2EC-B3B20250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45A02B-7790-7956-A53A-CF98D15B5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7FD121-F2D2-A23A-7BE0-CFAE6084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623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FAC385-63B7-6404-3AC2-CAFE56216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43E80F-3010-5274-5633-AF9822DA8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153575-0B86-66D7-C684-584C85C55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F0ED83-E6B9-5DFC-6F2E-D61911AE2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A3BED7-F8BE-7B78-5143-2243D282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603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46293C-6C1B-C0B0-7DEE-B1479BC5D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6BA4E7-5BE8-5282-7D56-D0BBA396D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4CDDE3-DFCE-D091-0560-1529DEB7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CA9EB8-541A-8FAC-F331-9BF1FFA5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C04D43-F0E4-C257-AEF4-F1124808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1406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1F371F-DB82-9C18-1CEC-AE0622B4C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D172F5-E08B-A01B-726B-ABA097562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E3D350-A09D-1B34-D979-8BEE935D5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F31CE0-694D-C697-1CFA-9CF84FE3C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61BF99-0001-C82B-5E6E-22054A28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55E6B0-AE43-D309-00E6-32DD78CD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6257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1B932D-5A1E-4BCA-04DB-77F2A4466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4F6C03-1EE3-D4D6-04F6-1F2068139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FB1BB67-B8AA-3308-DE7A-50D3D57E8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251E67F-266A-65F4-0FA4-439AE8CF5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A1468FA-0D5D-A43B-CA9F-B63FA06832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53FC95B-A74F-3486-3598-846262FF5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DD5267D-1203-652B-28A1-550F732BF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DC76E04-ECA6-2DB1-B7D6-88C96D3E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385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2F241A-0A03-96FD-F635-C803D30E0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9687ADD-AEFA-5D03-C094-220BF66AF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FD9696F-5DE4-EA43-10A3-453CC775F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58860B4-46E4-3BBB-68F6-210DBBB74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5353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A360096-5668-C532-5A3C-C6C0A14D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9A38E87-0349-E3B8-5266-644ACA853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377D01A-8587-C347-2FF0-5C2049909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4366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A536F3-4E02-71AF-5FCC-6350AB86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082FF1-04AE-B26D-EFDA-7C95C399C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F418B90-8BE9-5C44-7C55-8952DA87D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7EF98A-1860-2280-DFBE-7498E5B0B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9AA180-1AED-931D-209A-A3964DD8C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938A47-74E6-F9CF-14AF-25785CEBB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1843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E173F-5A88-2F28-287D-647443406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F8A4F1-2FF2-3D79-6B25-83054DE038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1C4834-B82F-56A6-6938-3C06072E4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A524C9-53E8-407D-DC4E-33A4C46A7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C2833B5-1241-B93D-06C7-C24E29284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AA9D5E-B42B-39ED-9852-AF0861158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420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CBA5BF-CDBF-8DA6-A289-E3AE6134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33C9675-82FE-1E19-6B2D-9ACA06149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EDFA9C-B475-1CBA-B7BA-55C11DE4F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9FFCFA-6C8B-7240-C7E6-F471948D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204904-2B7D-2B58-9818-F2A23DA9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2517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29E3C8-5249-95F4-4DF2-22A1C3523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FA28A21-C31A-DEA4-5DD1-C752D8FE3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770949-E598-0AF6-B8A4-082740EF5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559363-83BE-EA89-7756-32E85182B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34BEAF-E44A-68AC-EA4F-9D720231A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9585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816C9A6-2081-3E8A-D66E-78E284F12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4AFB5B-72DB-3947-A55E-424BDBD0A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571ED7-03A0-7F9D-8C38-43A94CA1E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B6AA23-F6BB-FA47-96B5-569FAB187581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BEE97E-466B-485A-2673-6B89E46450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C20D2E-E4F1-F2BE-689E-342F90D9E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505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1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3259F-8B7C-2ABF-1968-5A42C91CC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グループ化 118">
            <a:extLst>
              <a:ext uri="{FF2B5EF4-FFF2-40B4-BE49-F238E27FC236}">
                <a16:creationId xmlns:a16="http://schemas.microsoft.com/office/drawing/2014/main" id="{DE7E5F2C-E691-773E-06E4-D71652F17505}"/>
              </a:ext>
            </a:extLst>
          </p:cNvPr>
          <p:cNvGrpSpPr/>
          <p:nvPr/>
        </p:nvGrpSpPr>
        <p:grpSpPr>
          <a:xfrm>
            <a:off x="901018" y="177138"/>
            <a:ext cx="10389963" cy="6474105"/>
            <a:chOff x="901018" y="177138"/>
            <a:chExt cx="10389963" cy="6474105"/>
          </a:xfrm>
        </p:grpSpPr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2073F9D6-3573-8349-11F8-D238E3410545}"/>
                </a:ext>
              </a:extLst>
            </p:cNvPr>
            <p:cNvSpPr/>
            <p:nvPr/>
          </p:nvSpPr>
          <p:spPr>
            <a:xfrm>
              <a:off x="8907051" y="2567667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データ収集</a:t>
              </a:r>
              <a:r>
                <a:rPr kumimoji="1"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と</a:t>
              </a:r>
              <a:endParaRPr kumimoji="1" lang="en-US" altLang="ja-JP" sz="1400" dirty="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クリーニング</a:t>
              </a:r>
            </a:p>
          </p:txBody>
        </p:sp>
        <p:sp>
          <p:nvSpPr>
            <p:cNvPr id="3" name="角丸四角形 2">
              <a:extLst>
                <a:ext uri="{FF2B5EF4-FFF2-40B4-BE49-F238E27FC236}">
                  <a16:creationId xmlns:a16="http://schemas.microsoft.com/office/drawing/2014/main" id="{C12C8E2C-FE3B-1421-F1DD-680CE3C8EB7E}"/>
                </a:ext>
              </a:extLst>
            </p:cNvPr>
            <p:cNvSpPr/>
            <p:nvPr/>
          </p:nvSpPr>
          <p:spPr>
            <a:xfrm>
              <a:off x="901018" y="408776"/>
              <a:ext cx="10389963" cy="4757470"/>
            </a:xfrm>
            <a:prstGeom prst="roundRect">
              <a:avLst/>
            </a:prstGeom>
            <a:noFill/>
            <a:ln w="2857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角丸四角形 3">
              <a:extLst>
                <a:ext uri="{FF2B5EF4-FFF2-40B4-BE49-F238E27FC236}">
                  <a16:creationId xmlns:a16="http://schemas.microsoft.com/office/drawing/2014/main" id="{02245C02-021F-E2A1-C2BA-76E834FF1463}"/>
                </a:ext>
              </a:extLst>
            </p:cNvPr>
            <p:cNvSpPr/>
            <p:nvPr/>
          </p:nvSpPr>
          <p:spPr>
            <a:xfrm>
              <a:off x="1371945" y="1108191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はじめに</a:t>
              </a:r>
              <a:endParaRPr kumimoji="1" lang="ja-JP" altLang="en-US" sz="160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5" name="角丸四角形 4">
              <a:extLst>
                <a:ext uri="{FF2B5EF4-FFF2-40B4-BE49-F238E27FC236}">
                  <a16:creationId xmlns:a16="http://schemas.microsoft.com/office/drawing/2014/main" id="{122E0623-BD52-1DA8-2D75-17869CE9C720}"/>
                </a:ext>
              </a:extLst>
            </p:cNvPr>
            <p:cNvSpPr/>
            <p:nvPr/>
          </p:nvSpPr>
          <p:spPr>
            <a:xfrm>
              <a:off x="3930720" y="1108190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600" dirty="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R</a:t>
              </a:r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言語</a:t>
              </a:r>
              <a:r>
                <a:rPr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の</a:t>
              </a:r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基本</a:t>
              </a:r>
              <a:endParaRPr kumimoji="1" lang="ja-JP" altLang="en-US" sz="160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F2740DF5-6B08-0EE4-C2FD-CBD05E66E6A9}"/>
                </a:ext>
              </a:extLst>
            </p:cNvPr>
            <p:cNvSpPr/>
            <p:nvPr/>
          </p:nvSpPr>
          <p:spPr>
            <a:xfrm>
              <a:off x="1371942" y="2083653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因果効果</a:t>
              </a:r>
              <a:r>
                <a:rPr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の</a:t>
              </a:r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推定</a:t>
              </a:r>
              <a:endParaRPr kumimoji="1" lang="ja-JP" altLang="en-US" sz="160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A63CD7BD-3DEE-7BA6-797C-3289CAC18CC6}"/>
                </a:ext>
              </a:extLst>
            </p:cNvPr>
            <p:cNvSpPr/>
            <p:nvPr/>
          </p:nvSpPr>
          <p:spPr>
            <a:xfrm>
              <a:off x="3930719" y="2087606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推測統計学</a:t>
              </a:r>
              <a:r>
                <a:rPr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と</a:t>
              </a:r>
              <a:endParaRPr lang="en-US" altLang="ja-JP" sz="1600" dirty="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  <a:p>
              <a:pPr algn="ctr"/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社会調査</a:t>
              </a:r>
              <a:endParaRPr kumimoji="1" lang="ja-JP" altLang="en-US" sz="160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4A2D2B86-5E06-7468-1BEB-259E77F9D2B2}"/>
                </a:ext>
              </a:extLst>
            </p:cNvPr>
            <p:cNvSpPr/>
            <p:nvPr/>
          </p:nvSpPr>
          <p:spPr>
            <a:xfrm>
              <a:off x="1371943" y="3088194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600" dirty="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2</a:t>
              </a:r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変数間関係</a:t>
              </a:r>
              <a:r>
                <a:rPr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の</a:t>
              </a:r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分析</a:t>
              </a:r>
              <a:endParaRPr kumimoji="1" lang="ja-JP" altLang="en-US" sz="160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9" name="角丸四角形 8">
              <a:extLst>
                <a:ext uri="{FF2B5EF4-FFF2-40B4-BE49-F238E27FC236}">
                  <a16:creationId xmlns:a16="http://schemas.microsoft.com/office/drawing/2014/main" id="{3387CDC0-55D7-767C-9BA3-D1FF306F5D93}"/>
                </a:ext>
              </a:extLst>
            </p:cNvPr>
            <p:cNvSpPr/>
            <p:nvPr/>
          </p:nvSpPr>
          <p:spPr>
            <a:xfrm>
              <a:off x="3930720" y="3088193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単回帰分析</a:t>
              </a:r>
              <a:endParaRPr kumimoji="1" lang="ja-JP" altLang="en-US" sz="160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5B0415CD-DF36-AEB6-2914-D6E7EBFB458E}"/>
                </a:ext>
              </a:extLst>
            </p:cNvPr>
            <p:cNvSpPr/>
            <p:nvPr/>
          </p:nvSpPr>
          <p:spPr>
            <a:xfrm>
              <a:off x="1371941" y="4087213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重回帰分析</a:t>
              </a:r>
              <a:endParaRPr kumimoji="1" lang="ja-JP" altLang="en-US" sz="160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12" name="角丸四角形 11">
              <a:extLst>
                <a:ext uri="{FF2B5EF4-FFF2-40B4-BE49-F238E27FC236}">
                  <a16:creationId xmlns:a16="http://schemas.microsoft.com/office/drawing/2014/main" id="{0F416C86-6453-AECB-CCCC-BE547478BB76}"/>
                </a:ext>
              </a:extLst>
            </p:cNvPr>
            <p:cNvSpPr/>
            <p:nvPr/>
          </p:nvSpPr>
          <p:spPr>
            <a:xfrm>
              <a:off x="6506310" y="1107422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確率論</a:t>
              </a:r>
              <a:r>
                <a:rPr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の</a:t>
              </a:r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基礎</a:t>
              </a:r>
              <a:endParaRPr kumimoji="1" lang="ja-JP" altLang="en-US" sz="160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13" name="角丸四角形 12">
              <a:extLst>
                <a:ext uri="{FF2B5EF4-FFF2-40B4-BE49-F238E27FC236}">
                  <a16:creationId xmlns:a16="http://schemas.microsoft.com/office/drawing/2014/main" id="{BADF2F87-8276-AC23-BF56-3D5A64AE2277}"/>
                </a:ext>
              </a:extLst>
            </p:cNvPr>
            <p:cNvSpPr/>
            <p:nvPr/>
          </p:nvSpPr>
          <p:spPr>
            <a:xfrm>
              <a:off x="6506309" y="2097807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不確実性</a:t>
              </a:r>
              <a:r>
                <a:rPr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と</a:t>
              </a:r>
              <a:endParaRPr lang="en-US" altLang="ja-JP" sz="1600" dirty="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  <a:p>
              <a:pPr algn="ctr"/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信頼区間</a:t>
              </a:r>
              <a:endParaRPr kumimoji="1" lang="ja-JP" altLang="en-US" sz="160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1CED0252-5E26-C3CF-957F-646644749E93}"/>
                </a:ext>
              </a:extLst>
            </p:cNvPr>
            <p:cNvSpPr/>
            <p:nvPr/>
          </p:nvSpPr>
          <p:spPr>
            <a:xfrm>
              <a:off x="6506308" y="3088193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統計的仮説検定</a:t>
              </a:r>
              <a:endParaRPr kumimoji="1" lang="ja-JP" altLang="en-US" sz="160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15" name="角丸四角形 14">
              <a:extLst>
                <a:ext uri="{FF2B5EF4-FFF2-40B4-BE49-F238E27FC236}">
                  <a16:creationId xmlns:a16="http://schemas.microsoft.com/office/drawing/2014/main" id="{85904540-F911-1134-F970-E9C47A8A3F81}"/>
                </a:ext>
              </a:extLst>
            </p:cNvPr>
            <p:cNvSpPr/>
            <p:nvPr/>
          </p:nvSpPr>
          <p:spPr>
            <a:xfrm>
              <a:off x="8907051" y="1587877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実践的</a:t>
              </a:r>
              <a:r>
                <a:rPr lang="en-US" altLang="ja-JP" sz="1600" dirty="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R</a:t>
              </a:r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コーディング</a:t>
              </a:r>
              <a:endParaRPr kumimoji="1" lang="ja-JP" altLang="en-US" sz="160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17" name="角丸四角形 16">
              <a:extLst>
                <a:ext uri="{FF2B5EF4-FFF2-40B4-BE49-F238E27FC236}">
                  <a16:creationId xmlns:a16="http://schemas.microsoft.com/office/drawing/2014/main" id="{D186D1AF-EEE3-B222-A593-693894A55F54}"/>
                </a:ext>
              </a:extLst>
            </p:cNvPr>
            <p:cNvSpPr/>
            <p:nvPr/>
          </p:nvSpPr>
          <p:spPr>
            <a:xfrm>
              <a:off x="1371941" y="5759140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社会科学</a:t>
              </a:r>
              <a:r>
                <a:rPr kumimoji="1"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の</a:t>
              </a:r>
              <a:endParaRPr kumimoji="1" lang="en-US" altLang="ja-JP" sz="1600" dirty="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研究デザイン</a:t>
              </a:r>
            </a:p>
          </p:txBody>
        </p:sp>
        <p:sp>
          <p:nvSpPr>
            <p:cNvPr id="18" name="角丸四角形 17">
              <a:extLst>
                <a:ext uri="{FF2B5EF4-FFF2-40B4-BE49-F238E27FC236}">
                  <a16:creationId xmlns:a16="http://schemas.microsoft.com/office/drawing/2014/main" id="{7FDDEC94-4BB5-96C6-9BEC-3E470CE29B11}"/>
                </a:ext>
              </a:extLst>
            </p:cNvPr>
            <p:cNvSpPr/>
            <p:nvPr/>
          </p:nvSpPr>
          <p:spPr>
            <a:xfrm>
              <a:off x="3731195" y="5759140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グループ研究準備</a:t>
              </a: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65D6321E-9831-2011-889C-53C75D428B8E}"/>
                </a:ext>
              </a:extLst>
            </p:cNvPr>
            <p:cNvSpPr/>
            <p:nvPr/>
          </p:nvSpPr>
          <p:spPr>
            <a:xfrm>
              <a:off x="6090449" y="5759140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グループ研究発表</a:t>
              </a:r>
            </a:p>
          </p:txBody>
        </p:sp>
        <p:sp>
          <p:nvSpPr>
            <p:cNvPr id="22" name="角丸四角形 21">
              <a:extLst>
                <a:ext uri="{FF2B5EF4-FFF2-40B4-BE49-F238E27FC236}">
                  <a16:creationId xmlns:a16="http://schemas.microsoft.com/office/drawing/2014/main" id="{D35F0AEF-D109-F7E1-566F-2FB460805D5C}"/>
                </a:ext>
              </a:extLst>
            </p:cNvPr>
            <p:cNvSpPr/>
            <p:nvPr/>
          </p:nvSpPr>
          <p:spPr>
            <a:xfrm>
              <a:off x="901018" y="5467140"/>
              <a:ext cx="7853632" cy="1184103"/>
            </a:xfrm>
            <a:prstGeom prst="roundRect">
              <a:avLst/>
            </a:prstGeom>
            <a:noFill/>
            <a:ln w="2857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7E28B4C9-AF9A-0A67-610D-331227D830E9}"/>
                </a:ext>
              </a:extLst>
            </p:cNvPr>
            <p:cNvSpPr txBox="1"/>
            <p:nvPr/>
          </p:nvSpPr>
          <p:spPr>
            <a:xfrm>
              <a:off x="1446440" y="177138"/>
              <a:ext cx="166549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1600" dirty="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R</a:t>
              </a:r>
              <a:r>
                <a:rPr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の実装と解釈</a:t>
              </a:r>
              <a:endParaRPr kumimoji="1" lang="ja-JP" altLang="en-US" sz="1600"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8569B8CC-E73B-AC46-5324-4CAD9BEE6419}"/>
                </a:ext>
              </a:extLst>
            </p:cNvPr>
            <p:cNvSpPr/>
            <p:nvPr/>
          </p:nvSpPr>
          <p:spPr>
            <a:xfrm>
              <a:off x="1043510" y="769842"/>
              <a:ext cx="2558777" cy="4178923"/>
            </a:xfrm>
            <a:prstGeom prst="roundRect">
              <a:avLst/>
            </a:prstGeom>
            <a:noFill/>
            <a:ln w="2857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F678076C-3B70-F5B2-5ACD-9D871A95CA16}"/>
                </a:ext>
              </a:extLst>
            </p:cNvPr>
            <p:cNvSpPr txBox="1"/>
            <p:nvPr/>
          </p:nvSpPr>
          <p:spPr>
            <a:xfrm>
              <a:off x="1470597" y="620972"/>
              <a:ext cx="166549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因果推論の基礎</a:t>
              </a:r>
              <a:endParaRPr kumimoji="1" lang="ja-JP" altLang="en-US" sz="1600"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cxnSp>
          <p:nvCxnSpPr>
            <p:cNvPr id="87" name="直線矢印コネクタ 86">
              <a:extLst>
                <a:ext uri="{FF2B5EF4-FFF2-40B4-BE49-F238E27FC236}">
                  <a16:creationId xmlns:a16="http://schemas.microsoft.com/office/drawing/2014/main" id="{0E720E8B-4429-C0C0-F7FC-D341342B4D20}"/>
                </a:ext>
              </a:extLst>
            </p:cNvPr>
            <p:cNvCxnSpPr>
              <a:cxnSpLocks/>
              <a:stCxn id="17" idx="3"/>
              <a:endCxn id="18" idx="1"/>
            </p:cNvCxnSpPr>
            <p:nvPr/>
          </p:nvCxnSpPr>
          <p:spPr>
            <a:xfrm>
              <a:off x="3402760" y="6078117"/>
              <a:ext cx="32843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矢印コネクタ 89">
              <a:extLst>
                <a:ext uri="{FF2B5EF4-FFF2-40B4-BE49-F238E27FC236}">
                  <a16:creationId xmlns:a16="http://schemas.microsoft.com/office/drawing/2014/main" id="{95F7C235-1315-B5E3-E1FE-E42165A0CC70}"/>
                </a:ext>
              </a:extLst>
            </p:cNvPr>
            <p:cNvCxnSpPr>
              <a:cxnSpLocks/>
              <a:stCxn id="18" idx="3"/>
              <a:endCxn id="19" idx="1"/>
            </p:cNvCxnSpPr>
            <p:nvPr/>
          </p:nvCxnSpPr>
          <p:spPr>
            <a:xfrm>
              <a:off x="5762014" y="6078117"/>
              <a:ext cx="32843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フリーフォーム 53">
              <a:extLst>
                <a:ext uri="{FF2B5EF4-FFF2-40B4-BE49-F238E27FC236}">
                  <a16:creationId xmlns:a16="http://schemas.microsoft.com/office/drawing/2014/main" id="{959B7A9D-8AEC-CD79-4DDF-4A7E6C397EEB}"/>
                </a:ext>
              </a:extLst>
            </p:cNvPr>
            <p:cNvSpPr/>
            <p:nvPr/>
          </p:nvSpPr>
          <p:spPr>
            <a:xfrm>
              <a:off x="1195909" y="764380"/>
              <a:ext cx="7558741" cy="4184385"/>
            </a:xfrm>
            <a:custGeom>
              <a:avLst/>
              <a:gdLst>
                <a:gd name="csX0" fmla="*/ 3293387 w 7558741"/>
                <a:gd name="csY0" fmla="*/ 0 h 4184385"/>
                <a:gd name="csX1" fmla="*/ 6862240 w 7558741"/>
                <a:gd name="csY1" fmla="*/ 0 h 4184385"/>
                <a:gd name="csX2" fmla="*/ 7558741 w 7558741"/>
                <a:gd name="csY2" fmla="*/ 696501 h 4184385"/>
                <a:gd name="csX3" fmla="*/ 7558741 w 7558741"/>
                <a:gd name="csY3" fmla="*/ 3482422 h 4184385"/>
                <a:gd name="csX4" fmla="*/ 6862240 w 7558741"/>
                <a:gd name="csY4" fmla="*/ 4178923 h 4184385"/>
                <a:gd name="csX5" fmla="*/ 3724433 w 7558741"/>
                <a:gd name="csY5" fmla="*/ 4178923 h 4184385"/>
                <a:gd name="csX6" fmla="*/ 3670251 w 7558741"/>
                <a:gd name="csY6" fmla="*/ 4184385 h 4184385"/>
                <a:gd name="csX7" fmla="*/ 333636 w 7558741"/>
                <a:gd name="csY7" fmla="*/ 4184385 h 4184385"/>
                <a:gd name="csX8" fmla="*/ 0 w 7558741"/>
                <a:gd name="csY8" fmla="*/ 3850749 h 4184385"/>
                <a:gd name="csX9" fmla="*/ 0 w 7558741"/>
                <a:gd name="csY9" fmla="*/ 2516246 h 4184385"/>
                <a:gd name="csX10" fmla="*/ 333636 w 7558741"/>
                <a:gd name="csY10" fmla="*/ 2182610 h 4184385"/>
                <a:gd name="csX11" fmla="*/ 2596886 w 7558741"/>
                <a:gd name="csY11" fmla="*/ 2182610 h 4184385"/>
                <a:gd name="csX12" fmla="*/ 2596886 w 7558741"/>
                <a:gd name="csY12" fmla="*/ 696501 h 4184385"/>
                <a:gd name="csX13" fmla="*/ 3293387 w 7558741"/>
                <a:gd name="csY13" fmla="*/ 0 h 4184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558741" h="4184385">
                  <a:moveTo>
                    <a:pt x="3293387" y="0"/>
                  </a:moveTo>
                  <a:lnTo>
                    <a:pt x="6862240" y="0"/>
                  </a:lnTo>
                  <a:cubicBezTo>
                    <a:pt x="7246907" y="0"/>
                    <a:pt x="7558741" y="311834"/>
                    <a:pt x="7558741" y="696501"/>
                  </a:cubicBezTo>
                  <a:lnTo>
                    <a:pt x="7558741" y="3482422"/>
                  </a:lnTo>
                  <a:cubicBezTo>
                    <a:pt x="7558741" y="3867089"/>
                    <a:pt x="7246907" y="4178923"/>
                    <a:pt x="6862240" y="4178923"/>
                  </a:cubicBezTo>
                  <a:lnTo>
                    <a:pt x="3724433" y="4178923"/>
                  </a:lnTo>
                  <a:lnTo>
                    <a:pt x="3670251" y="4184385"/>
                  </a:lnTo>
                  <a:lnTo>
                    <a:pt x="333636" y="4184385"/>
                  </a:lnTo>
                  <a:cubicBezTo>
                    <a:pt x="149374" y="4184385"/>
                    <a:pt x="0" y="4035011"/>
                    <a:pt x="0" y="3850749"/>
                  </a:cubicBezTo>
                  <a:lnTo>
                    <a:pt x="0" y="2516246"/>
                  </a:lnTo>
                  <a:cubicBezTo>
                    <a:pt x="0" y="2331984"/>
                    <a:pt x="149374" y="2182610"/>
                    <a:pt x="333636" y="2182610"/>
                  </a:cubicBezTo>
                  <a:lnTo>
                    <a:pt x="2596886" y="2182610"/>
                  </a:lnTo>
                  <a:lnTo>
                    <a:pt x="2596886" y="696501"/>
                  </a:lnTo>
                  <a:cubicBezTo>
                    <a:pt x="2596886" y="311834"/>
                    <a:pt x="2908720" y="0"/>
                    <a:pt x="3293387" y="0"/>
                  </a:cubicBezTo>
                  <a:close/>
                </a:path>
              </a:pathLst>
            </a:custGeom>
            <a:noFill/>
            <a:ln w="2857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678E560F-F9AD-97EF-CEB3-1B0091D6835F}"/>
                </a:ext>
              </a:extLst>
            </p:cNvPr>
            <p:cNvSpPr txBox="1"/>
            <p:nvPr/>
          </p:nvSpPr>
          <p:spPr>
            <a:xfrm>
              <a:off x="4015136" y="616875"/>
              <a:ext cx="191572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統計学の概念・手法</a:t>
              </a:r>
              <a:endParaRPr kumimoji="1" lang="ja-JP" altLang="en-US" sz="1600"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cxnSp>
          <p:nvCxnSpPr>
            <p:cNvPr id="58" name="直線矢印コネクタ 57">
              <a:extLst>
                <a:ext uri="{FF2B5EF4-FFF2-40B4-BE49-F238E27FC236}">
                  <a16:creationId xmlns:a16="http://schemas.microsoft.com/office/drawing/2014/main" id="{835632D6-38F6-1B58-E065-FEE58927AF42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 flipV="1">
              <a:off x="3402764" y="1427167"/>
              <a:ext cx="527956" cy="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矢印コネクタ 63">
              <a:extLst>
                <a:ext uri="{FF2B5EF4-FFF2-40B4-BE49-F238E27FC236}">
                  <a16:creationId xmlns:a16="http://schemas.microsoft.com/office/drawing/2014/main" id="{4C827ECC-056A-BCAA-7C07-5B1999511BB4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3402761" y="2402630"/>
              <a:ext cx="527958" cy="3953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矢印コネクタ 68">
              <a:extLst>
                <a:ext uri="{FF2B5EF4-FFF2-40B4-BE49-F238E27FC236}">
                  <a16:creationId xmlns:a16="http://schemas.microsoft.com/office/drawing/2014/main" id="{01E2C8F8-B8B0-DD19-A4CF-863AB0AA19CC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 flipV="1">
              <a:off x="3402762" y="3407170"/>
              <a:ext cx="527958" cy="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矢印コネクタ 73">
              <a:extLst>
                <a:ext uri="{FF2B5EF4-FFF2-40B4-BE49-F238E27FC236}">
                  <a16:creationId xmlns:a16="http://schemas.microsoft.com/office/drawing/2014/main" id="{71EF5076-7602-55CF-E44A-A0C0C867F6EC}"/>
                </a:ext>
              </a:extLst>
            </p:cNvPr>
            <p:cNvCxnSpPr>
              <a:cxnSpLocks/>
              <a:stCxn id="12" idx="2"/>
              <a:endCxn id="13" idx="0"/>
            </p:cNvCxnSpPr>
            <p:nvPr/>
          </p:nvCxnSpPr>
          <p:spPr>
            <a:xfrm flipH="1">
              <a:off x="7521719" y="1745375"/>
              <a:ext cx="1" cy="352432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矢印コネクタ 77">
              <a:extLst>
                <a:ext uri="{FF2B5EF4-FFF2-40B4-BE49-F238E27FC236}">
                  <a16:creationId xmlns:a16="http://schemas.microsoft.com/office/drawing/2014/main" id="{7CE62827-D452-FB65-8EC3-DA943F773435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 flipH="1">
              <a:off x="7521718" y="2735760"/>
              <a:ext cx="1" cy="352433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矢印コネクタ 81">
              <a:extLst>
                <a:ext uri="{FF2B5EF4-FFF2-40B4-BE49-F238E27FC236}">
                  <a16:creationId xmlns:a16="http://schemas.microsoft.com/office/drawing/2014/main" id="{03FD72C7-5735-FE89-B73C-27462D0FDC4B}"/>
                </a:ext>
              </a:extLst>
            </p:cNvPr>
            <p:cNvCxnSpPr>
              <a:cxnSpLocks/>
              <a:stCxn id="15" idx="2"/>
              <a:endCxn id="16" idx="0"/>
            </p:cNvCxnSpPr>
            <p:nvPr/>
          </p:nvCxnSpPr>
          <p:spPr>
            <a:xfrm>
              <a:off x="9922461" y="2225830"/>
              <a:ext cx="0" cy="341837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カギ線コネクタ 85">
              <a:extLst>
                <a:ext uri="{FF2B5EF4-FFF2-40B4-BE49-F238E27FC236}">
                  <a16:creationId xmlns:a16="http://schemas.microsoft.com/office/drawing/2014/main" id="{A2325B1C-32A8-B9F0-CBFA-280DC4DB2FF3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rot="5400000">
              <a:off x="3497986" y="635509"/>
              <a:ext cx="337510" cy="2558778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カギ線コネクタ 90">
              <a:extLst>
                <a:ext uri="{FF2B5EF4-FFF2-40B4-BE49-F238E27FC236}">
                  <a16:creationId xmlns:a16="http://schemas.microsoft.com/office/drawing/2014/main" id="{A3BB632F-A614-A58A-2932-AC2CED26A2AB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 rot="5400000">
              <a:off x="3485424" y="1627488"/>
              <a:ext cx="362635" cy="255877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カギ線コネクタ 94">
              <a:extLst>
                <a:ext uri="{FF2B5EF4-FFF2-40B4-BE49-F238E27FC236}">
                  <a16:creationId xmlns:a16="http://schemas.microsoft.com/office/drawing/2014/main" id="{6D62B46D-FC46-FF72-3B30-B7FEC2A6C75B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 rot="5400000">
              <a:off x="3486208" y="2627290"/>
              <a:ext cx="361067" cy="2558779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カギ線コネクタ 97">
              <a:extLst>
                <a:ext uri="{FF2B5EF4-FFF2-40B4-BE49-F238E27FC236}">
                  <a16:creationId xmlns:a16="http://schemas.microsoft.com/office/drawing/2014/main" id="{49A6E45F-2CE8-43BD-15AC-10CB21CD51F0}"/>
                </a:ext>
              </a:extLst>
            </p:cNvPr>
            <p:cNvCxnSpPr>
              <a:cxnSpLocks/>
              <a:stCxn id="10" idx="3"/>
              <a:endCxn id="12" idx="1"/>
            </p:cNvCxnSpPr>
            <p:nvPr/>
          </p:nvCxnSpPr>
          <p:spPr>
            <a:xfrm flipV="1">
              <a:off x="3402760" y="1426399"/>
              <a:ext cx="3103550" cy="2979791"/>
            </a:xfrm>
            <a:prstGeom prst="bentConnector3">
              <a:avLst>
                <a:gd name="adj1" fmla="val 90819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カギ線コネクタ 101">
              <a:extLst>
                <a:ext uri="{FF2B5EF4-FFF2-40B4-BE49-F238E27FC236}">
                  <a16:creationId xmlns:a16="http://schemas.microsoft.com/office/drawing/2014/main" id="{427854D3-9B5E-42E9-EDA8-2D293246C6AA}"/>
                </a:ext>
              </a:extLst>
            </p:cNvPr>
            <p:cNvCxnSpPr>
              <a:cxnSpLocks/>
              <a:stCxn id="14" idx="3"/>
              <a:endCxn id="15" idx="1"/>
            </p:cNvCxnSpPr>
            <p:nvPr/>
          </p:nvCxnSpPr>
          <p:spPr>
            <a:xfrm flipV="1">
              <a:off x="8537127" y="1906854"/>
              <a:ext cx="369924" cy="1500316"/>
            </a:xfrm>
            <a:prstGeom prst="bentConnector3">
              <a:avLst>
                <a:gd name="adj1" fmla="val 34551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カギ線コネクタ 108">
              <a:extLst>
                <a:ext uri="{FF2B5EF4-FFF2-40B4-BE49-F238E27FC236}">
                  <a16:creationId xmlns:a16="http://schemas.microsoft.com/office/drawing/2014/main" id="{1C169156-2239-461C-C094-CA6CD613E8E6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 rot="5400000">
              <a:off x="4878146" y="714825"/>
              <a:ext cx="2553520" cy="7535110"/>
            </a:xfrm>
            <a:prstGeom prst="bentConnector3">
              <a:avLst>
                <a:gd name="adj1" fmla="val 83319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744D4D65-116E-62B8-79CF-0024B34A5544}"/>
                </a:ext>
              </a:extLst>
            </p:cNvPr>
            <p:cNvSpPr txBox="1"/>
            <p:nvPr/>
          </p:nvSpPr>
          <p:spPr>
            <a:xfrm>
              <a:off x="1131191" y="5267740"/>
              <a:ext cx="166549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研究プロジェクト</a:t>
              </a:r>
              <a:endParaRPr kumimoji="1" lang="ja-JP" altLang="en-US" sz="1600"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2854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グループ化 72">
            <a:extLst>
              <a:ext uri="{FF2B5EF4-FFF2-40B4-BE49-F238E27FC236}">
                <a16:creationId xmlns:a16="http://schemas.microsoft.com/office/drawing/2014/main" id="{7E8E9BA9-BC44-F54A-F2F7-F2CAB36CC072}"/>
              </a:ext>
            </a:extLst>
          </p:cNvPr>
          <p:cNvGrpSpPr/>
          <p:nvPr/>
        </p:nvGrpSpPr>
        <p:grpSpPr>
          <a:xfrm>
            <a:off x="2280831" y="157038"/>
            <a:ext cx="7630337" cy="6543923"/>
            <a:chOff x="2466184" y="242207"/>
            <a:chExt cx="7630337" cy="6543923"/>
          </a:xfrm>
        </p:grpSpPr>
        <p:sp>
          <p:nvSpPr>
            <p:cNvPr id="2" name="角丸四角形 1">
              <a:extLst>
                <a:ext uri="{FF2B5EF4-FFF2-40B4-BE49-F238E27FC236}">
                  <a16:creationId xmlns:a16="http://schemas.microsoft.com/office/drawing/2014/main" id="{7062C4F4-E698-53CC-7CBB-70122E5B19B0}"/>
                </a:ext>
              </a:extLst>
            </p:cNvPr>
            <p:cNvSpPr/>
            <p:nvPr/>
          </p:nvSpPr>
          <p:spPr>
            <a:xfrm>
              <a:off x="2654126" y="607515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はじめに</a:t>
              </a:r>
              <a:endParaRPr kumimoji="1" lang="ja-JP" altLang="en-US" sz="1600" b="1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3" name="角丸四角形 2">
              <a:extLst>
                <a:ext uri="{FF2B5EF4-FFF2-40B4-BE49-F238E27FC236}">
                  <a16:creationId xmlns:a16="http://schemas.microsoft.com/office/drawing/2014/main" id="{E8B8E29B-9BF0-459D-057A-006C724DFAE8}"/>
                </a:ext>
              </a:extLst>
            </p:cNvPr>
            <p:cNvSpPr/>
            <p:nvPr/>
          </p:nvSpPr>
          <p:spPr>
            <a:xfrm>
              <a:off x="5265945" y="604889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数量データ</a:t>
              </a:r>
              <a:r>
                <a:rPr lang="ja-JP" altLang="en-US" sz="12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と</a:t>
              </a:r>
              <a:endParaRPr lang="en-US" altLang="ja-JP" sz="1600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因果推論</a:t>
              </a:r>
              <a:endParaRPr kumimoji="1" lang="ja-JP" altLang="en-US" sz="1600" b="1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4" name="角丸四角形 3">
              <a:extLst>
                <a:ext uri="{FF2B5EF4-FFF2-40B4-BE49-F238E27FC236}">
                  <a16:creationId xmlns:a16="http://schemas.microsoft.com/office/drawing/2014/main" id="{D6E7C69C-7793-8814-231B-04ED68B4F031}"/>
                </a:ext>
              </a:extLst>
            </p:cNvPr>
            <p:cNvSpPr/>
            <p:nvPr/>
          </p:nvSpPr>
          <p:spPr>
            <a:xfrm>
              <a:off x="7877763" y="604889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統計学</a:t>
              </a:r>
              <a:r>
                <a:rPr lang="ja-JP" altLang="en-US" sz="12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と</a:t>
              </a:r>
              <a:r>
                <a:rPr lang="en-US" altLang="ja-JP" sz="1600" b="1" dirty="0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R</a:t>
              </a:r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言語</a:t>
              </a:r>
              <a:endParaRPr kumimoji="1" lang="ja-JP" altLang="en-US" sz="1600" b="1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5" name="角丸四角形 4">
              <a:extLst>
                <a:ext uri="{FF2B5EF4-FFF2-40B4-BE49-F238E27FC236}">
                  <a16:creationId xmlns:a16="http://schemas.microsoft.com/office/drawing/2014/main" id="{8931DD73-434B-FF01-25C6-D8BC30873162}"/>
                </a:ext>
              </a:extLst>
            </p:cNvPr>
            <p:cNvSpPr/>
            <p:nvPr/>
          </p:nvSpPr>
          <p:spPr>
            <a:xfrm>
              <a:off x="2654128" y="1868764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二変量回帰分析：</a:t>
              </a:r>
              <a:endParaRPr lang="en-US" altLang="ja-JP" sz="1400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kumimoji="1"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基本編</a:t>
              </a: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8236D719-0772-C9A2-BB57-C4255B0501C5}"/>
                </a:ext>
              </a:extLst>
            </p:cNvPr>
            <p:cNvSpPr/>
            <p:nvPr/>
          </p:nvSpPr>
          <p:spPr>
            <a:xfrm>
              <a:off x="2654127" y="2898780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二変量回帰分析：</a:t>
              </a:r>
              <a:endParaRPr lang="en-US" altLang="ja-JP" sz="1400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kumimoji="1"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応用編</a:t>
              </a:r>
            </a:p>
          </p:txBody>
        </p:sp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987175AE-73F6-D0EB-86DB-76D87733835B}"/>
                </a:ext>
              </a:extLst>
            </p:cNvPr>
            <p:cNvSpPr/>
            <p:nvPr/>
          </p:nvSpPr>
          <p:spPr>
            <a:xfrm>
              <a:off x="2654126" y="3928795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二変量回帰分析：</a:t>
              </a:r>
              <a:endParaRPr lang="en-US" altLang="ja-JP" sz="1400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kumimoji="1"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発展編</a:t>
              </a:r>
            </a:p>
          </p:txBody>
        </p:sp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AF032ED0-3F8A-4B3E-5F7F-A9A772AD9942}"/>
                </a:ext>
              </a:extLst>
            </p:cNvPr>
            <p:cNvSpPr/>
            <p:nvPr/>
          </p:nvSpPr>
          <p:spPr>
            <a:xfrm>
              <a:off x="2654126" y="4958810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二変量回帰分析：</a:t>
              </a:r>
              <a:endParaRPr lang="en-US" altLang="ja-JP" sz="1400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実習</a:t>
              </a:r>
              <a:r>
                <a:rPr kumimoji="1"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編</a:t>
              </a:r>
            </a:p>
          </p:txBody>
        </p:sp>
        <p:sp>
          <p:nvSpPr>
            <p:cNvPr id="9" name="角丸四角形 8">
              <a:extLst>
                <a:ext uri="{FF2B5EF4-FFF2-40B4-BE49-F238E27FC236}">
                  <a16:creationId xmlns:a16="http://schemas.microsoft.com/office/drawing/2014/main" id="{3932C174-AE9D-0D54-AF2B-CE08789C3953}"/>
                </a:ext>
              </a:extLst>
            </p:cNvPr>
            <p:cNvSpPr/>
            <p:nvPr/>
          </p:nvSpPr>
          <p:spPr>
            <a:xfrm>
              <a:off x="5265948" y="1868764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統計的仮説検定：</a:t>
              </a:r>
              <a:endParaRPr lang="en-US" altLang="ja-JP" sz="1400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kumimoji="1"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基本編</a:t>
              </a: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A2B2875D-058F-F1A9-2141-5C95F046E64B}"/>
                </a:ext>
              </a:extLst>
            </p:cNvPr>
            <p:cNvSpPr/>
            <p:nvPr/>
          </p:nvSpPr>
          <p:spPr>
            <a:xfrm>
              <a:off x="5265947" y="2898780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統計的仮説検定：</a:t>
              </a:r>
              <a:endParaRPr lang="en-US" altLang="ja-JP" sz="1400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kumimoji="1"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発展編</a:t>
              </a:r>
            </a:p>
          </p:txBody>
        </p:sp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5A041EC3-2436-B382-7DAA-4E556B3D43C4}"/>
                </a:ext>
              </a:extLst>
            </p:cNvPr>
            <p:cNvSpPr/>
            <p:nvPr/>
          </p:nvSpPr>
          <p:spPr>
            <a:xfrm>
              <a:off x="5265946" y="3928795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統計的仮説検定：</a:t>
              </a:r>
              <a:endParaRPr lang="en-US" altLang="ja-JP" sz="1400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実習</a:t>
              </a:r>
              <a:r>
                <a:rPr kumimoji="1"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編</a:t>
              </a:r>
            </a:p>
          </p:txBody>
        </p:sp>
        <p:sp>
          <p:nvSpPr>
            <p:cNvPr id="13" name="角丸四角形 12">
              <a:extLst>
                <a:ext uri="{FF2B5EF4-FFF2-40B4-BE49-F238E27FC236}">
                  <a16:creationId xmlns:a16="http://schemas.microsoft.com/office/drawing/2014/main" id="{F05BCDDA-269B-8578-FF4D-2D838D4B324C}"/>
                </a:ext>
              </a:extLst>
            </p:cNvPr>
            <p:cNvSpPr/>
            <p:nvPr/>
          </p:nvSpPr>
          <p:spPr>
            <a:xfrm>
              <a:off x="7877768" y="1868763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多変量回帰分析：</a:t>
              </a:r>
              <a:endParaRPr lang="en-US" altLang="ja-JP" sz="1400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kumimoji="1"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基本編</a:t>
              </a: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B5335377-FBD2-6C8A-0F65-70CBE120870C}"/>
                </a:ext>
              </a:extLst>
            </p:cNvPr>
            <p:cNvSpPr/>
            <p:nvPr/>
          </p:nvSpPr>
          <p:spPr>
            <a:xfrm>
              <a:off x="7877767" y="2898779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多変量回帰分析：</a:t>
              </a:r>
              <a:endParaRPr lang="en-US" altLang="ja-JP" sz="1400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kumimoji="1"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発展編</a:t>
              </a:r>
            </a:p>
          </p:txBody>
        </p:sp>
        <p:sp>
          <p:nvSpPr>
            <p:cNvPr id="15" name="角丸四角形 14">
              <a:extLst>
                <a:ext uri="{FF2B5EF4-FFF2-40B4-BE49-F238E27FC236}">
                  <a16:creationId xmlns:a16="http://schemas.microsoft.com/office/drawing/2014/main" id="{FEC50CAD-6E8C-C4E2-103A-A4D187BE1A46}"/>
                </a:ext>
              </a:extLst>
            </p:cNvPr>
            <p:cNvSpPr/>
            <p:nvPr/>
          </p:nvSpPr>
          <p:spPr>
            <a:xfrm>
              <a:off x="7877766" y="3928794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多変量回帰分析：</a:t>
              </a:r>
              <a:endParaRPr lang="en-US" altLang="ja-JP" sz="1400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実習</a:t>
              </a:r>
              <a:r>
                <a:rPr kumimoji="1"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編</a:t>
              </a: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54D0E800-8255-6D69-690F-286859BB849E}"/>
                </a:ext>
              </a:extLst>
            </p:cNvPr>
            <p:cNvSpPr/>
            <p:nvPr/>
          </p:nvSpPr>
          <p:spPr>
            <a:xfrm>
              <a:off x="5265944" y="5988826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授業全体</a:t>
              </a:r>
              <a:r>
                <a:rPr lang="ja-JP" altLang="en-US" sz="12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endParaRPr lang="en-US" altLang="ja-JP" sz="1600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ふりかえり</a:t>
              </a:r>
              <a:endParaRPr kumimoji="1" lang="ja-JP" altLang="en-US" sz="1600" b="1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17" name="角丸四角形 16">
              <a:extLst>
                <a:ext uri="{FF2B5EF4-FFF2-40B4-BE49-F238E27FC236}">
                  <a16:creationId xmlns:a16="http://schemas.microsoft.com/office/drawing/2014/main" id="{CF2941F1-DD80-FD06-8423-F92A424C70EE}"/>
                </a:ext>
              </a:extLst>
            </p:cNvPr>
            <p:cNvSpPr/>
            <p:nvPr/>
          </p:nvSpPr>
          <p:spPr>
            <a:xfrm>
              <a:off x="7877763" y="5988826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理解度</a:t>
              </a:r>
              <a:r>
                <a:rPr lang="ja-JP" altLang="en-US" sz="12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確認</a:t>
              </a:r>
              <a:endParaRPr kumimoji="1" lang="ja-JP" altLang="en-US" sz="1600" b="1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915951D3-F2E7-1CBD-97A2-C27623550F9F}"/>
                </a:ext>
              </a:extLst>
            </p:cNvPr>
            <p:cNvCxnSpPr>
              <a:cxnSpLocks/>
              <a:stCxn id="2" idx="3"/>
              <a:endCxn id="3" idx="1"/>
            </p:cNvCxnSpPr>
            <p:nvPr/>
          </p:nvCxnSpPr>
          <p:spPr>
            <a:xfrm flipV="1">
              <a:off x="4684945" y="923866"/>
              <a:ext cx="581000" cy="2626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E3F6ECD0-C478-6DAF-2C5A-7CC94E68B9E4}"/>
                </a:ext>
              </a:extLst>
            </p:cNvPr>
            <p:cNvCxnSpPr>
              <a:cxnSpLocks/>
              <a:stCxn id="3" idx="3"/>
              <a:endCxn id="4" idx="1"/>
            </p:cNvCxnSpPr>
            <p:nvPr/>
          </p:nvCxnSpPr>
          <p:spPr>
            <a:xfrm>
              <a:off x="7296764" y="923866"/>
              <a:ext cx="5809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172EEE39-C6E1-1877-5E04-C817BE9A35AA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7296763" y="6305176"/>
              <a:ext cx="581000" cy="2627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3F6F0AD2-6314-5DF1-D4E2-ED7C502CA8D0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flipH="1">
              <a:off x="3669537" y="2506717"/>
              <a:ext cx="1" cy="392063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矢印コネクタ 30">
              <a:extLst>
                <a:ext uri="{FF2B5EF4-FFF2-40B4-BE49-F238E27FC236}">
                  <a16:creationId xmlns:a16="http://schemas.microsoft.com/office/drawing/2014/main" id="{FD3D355B-7526-ACB2-FF61-BB01B6D3E070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 flipH="1">
              <a:off x="3669536" y="3536733"/>
              <a:ext cx="1" cy="392062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697E30CF-7F12-2B35-E9D0-DFAED0B41EA4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>
              <a:off x="3669536" y="4566748"/>
              <a:ext cx="0" cy="392062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矢印コネクタ 37">
              <a:extLst>
                <a:ext uri="{FF2B5EF4-FFF2-40B4-BE49-F238E27FC236}">
                  <a16:creationId xmlns:a16="http://schemas.microsoft.com/office/drawing/2014/main" id="{0AB877B7-7BDC-F199-BD8C-19722199A926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 flipH="1">
              <a:off x="6281357" y="2506717"/>
              <a:ext cx="1" cy="392063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矢印コネクタ 40">
              <a:extLst>
                <a:ext uri="{FF2B5EF4-FFF2-40B4-BE49-F238E27FC236}">
                  <a16:creationId xmlns:a16="http://schemas.microsoft.com/office/drawing/2014/main" id="{EEAEA275-E72F-3EFE-1D8C-F19EF059BBD9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 flipH="1">
              <a:off x="6281356" y="3536733"/>
              <a:ext cx="1" cy="392062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矢印コネクタ 43">
              <a:extLst>
                <a:ext uri="{FF2B5EF4-FFF2-40B4-BE49-F238E27FC236}">
                  <a16:creationId xmlns:a16="http://schemas.microsoft.com/office/drawing/2014/main" id="{E49490E2-4955-822A-7102-DDC299766D52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 flipH="1">
              <a:off x="8893177" y="2506716"/>
              <a:ext cx="1" cy="392063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矢印コネクタ 46">
              <a:extLst>
                <a:ext uri="{FF2B5EF4-FFF2-40B4-BE49-F238E27FC236}">
                  <a16:creationId xmlns:a16="http://schemas.microsoft.com/office/drawing/2014/main" id="{85904C45-8511-76EE-D8B6-580FA927ED60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 flipH="1">
              <a:off x="8893176" y="3536732"/>
              <a:ext cx="1" cy="392062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カギ線コネクタ 49">
              <a:extLst>
                <a:ext uri="{FF2B5EF4-FFF2-40B4-BE49-F238E27FC236}">
                  <a16:creationId xmlns:a16="http://schemas.microsoft.com/office/drawing/2014/main" id="{185F73AB-5D6B-9148-5FC9-AA3348945D30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rot="5400000">
              <a:off x="5968395" y="-1056014"/>
              <a:ext cx="625922" cy="522363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カギ線コネクタ 52">
              <a:extLst>
                <a:ext uri="{FF2B5EF4-FFF2-40B4-BE49-F238E27FC236}">
                  <a16:creationId xmlns:a16="http://schemas.microsoft.com/office/drawing/2014/main" id="{F4E97636-E43A-4815-3650-87168DA30FEA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 flipV="1">
              <a:off x="4684945" y="2187741"/>
              <a:ext cx="581003" cy="309004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カギ線コネクタ 55">
              <a:extLst>
                <a:ext uri="{FF2B5EF4-FFF2-40B4-BE49-F238E27FC236}">
                  <a16:creationId xmlns:a16="http://schemas.microsoft.com/office/drawing/2014/main" id="{2E2D0642-8D21-8FCC-7A91-A00FE85DEE31}"/>
                </a:ext>
              </a:extLst>
            </p:cNvPr>
            <p:cNvCxnSpPr>
              <a:cxnSpLocks/>
              <a:stCxn id="11" idx="3"/>
              <a:endCxn id="13" idx="1"/>
            </p:cNvCxnSpPr>
            <p:nvPr/>
          </p:nvCxnSpPr>
          <p:spPr>
            <a:xfrm flipV="1">
              <a:off x="7296765" y="2187740"/>
              <a:ext cx="581003" cy="2060032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カギ線コネクタ 58">
              <a:extLst>
                <a:ext uri="{FF2B5EF4-FFF2-40B4-BE49-F238E27FC236}">
                  <a16:creationId xmlns:a16="http://schemas.microsoft.com/office/drawing/2014/main" id="{06ED39F4-3C0C-2462-8825-39596E85AC62}"/>
                </a:ext>
              </a:extLst>
            </p:cNvPr>
            <p:cNvCxnSpPr>
              <a:cxnSpLocks/>
              <a:stCxn id="15" idx="2"/>
              <a:endCxn id="16" idx="0"/>
            </p:cNvCxnSpPr>
            <p:nvPr/>
          </p:nvCxnSpPr>
          <p:spPr>
            <a:xfrm rot="5400000">
              <a:off x="6876226" y="3971875"/>
              <a:ext cx="1422079" cy="2611822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角丸四角形 62">
              <a:extLst>
                <a:ext uri="{FF2B5EF4-FFF2-40B4-BE49-F238E27FC236}">
                  <a16:creationId xmlns:a16="http://schemas.microsoft.com/office/drawing/2014/main" id="{4580C3EC-F735-1785-DFF2-32D4C855BC3B}"/>
                </a:ext>
              </a:extLst>
            </p:cNvPr>
            <p:cNvSpPr/>
            <p:nvPr/>
          </p:nvSpPr>
          <p:spPr>
            <a:xfrm>
              <a:off x="2466184" y="445538"/>
              <a:ext cx="7630337" cy="956655"/>
            </a:xfrm>
            <a:prstGeom prst="roundRect">
              <a:avLst/>
            </a:prstGeom>
            <a:noFill/>
            <a:ln w="2857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9D9D3D19-AA4F-5EFF-1776-D951464EA798}"/>
                </a:ext>
              </a:extLst>
            </p:cNvPr>
            <p:cNvSpPr/>
            <p:nvPr/>
          </p:nvSpPr>
          <p:spPr>
            <a:xfrm>
              <a:off x="2466185" y="1752486"/>
              <a:ext cx="2400104" cy="4007183"/>
            </a:xfrm>
            <a:prstGeom prst="roundRect">
              <a:avLst/>
            </a:prstGeom>
            <a:noFill/>
            <a:ln w="2857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角丸四角形 64">
              <a:extLst>
                <a:ext uri="{FF2B5EF4-FFF2-40B4-BE49-F238E27FC236}">
                  <a16:creationId xmlns:a16="http://schemas.microsoft.com/office/drawing/2014/main" id="{F15586E4-D53A-C9ED-CD6C-05D52FB99895}"/>
                </a:ext>
              </a:extLst>
            </p:cNvPr>
            <p:cNvSpPr/>
            <p:nvPr/>
          </p:nvSpPr>
          <p:spPr>
            <a:xfrm>
              <a:off x="5081305" y="1752487"/>
              <a:ext cx="2400104" cy="2956148"/>
            </a:xfrm>
            <a:prstGeom prst="roundRect">
              <a:avLst/>
            </a:prstGeom>
            <a:noFill/>
            <a:ln w="2857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07430A56-E311-AE1B-631F-01FD7A1789B5}"/>
                </a:ext>
              </a:extLst>
            </p:cNvPr>
            <p:cNvSpPr/>
            <p:nvPr/>
          </p:nvSpPr>
          <p:spPr>
            <a:xfrm>
              <a:off x="7696417" y="1752486"/>
              <a:ext cx="2400104" cy="2956148"/>
            </a:xfrm>
            <a:prstGeom prst="roundRect">
              <a:avLst/>
            </a:prstGeom>
            <a:noFill/>
            <a:ln w="2857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8519BD24-F3DB-6542-67AD-02D9EAB496F5}"/>
                </a:ext>
              </a:extLst>
            </p:cNvPr>
            <p:cNvSpPr txBox="1"/>
            <p:nvPr/>
          </p:nvSpPr>
          <p:spPr>
            <a:xfrm>
              <a:off x="2654126" y="242207"/>
              <a:ext cx="2030818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16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イントロダクション</a:t>
              </a:r>
              <a:endParaRPr kumimoji="1" lang="ja-JP" altLang="en-US" sz="1600" b="1"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68" name="テキスト ボックス 67">
              <a:extLst>
                <a:ext uri="{FF2B5EF4-FFF2-40B4-BE49-F238E27FC236}">
                  <a16:creationId xmlns:a16="http://schemas.microsoft.com/office/drawing/2014/main" id="{7AC1D418-AC9A-5CE1-F09B-46E33D96D769}"/>
                </a:ext>
              </a:extLst>
            </p:cNvPr>
            <p:cNvSpPr txBox="1"/>
            <p:nvPr/>
          </p:nvSpPr>
          <p:spPr>
            <a:xfrm>
              <a:off x="2654126" y="1457124"/>
              <a:ext cx="166549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16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二変量回帰分析</a:t>
              </a:r>
              <a:endParaRPr kumimoji="1" lang="ja-JP" altLang="en-US" sz="1600" b="1"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69" name="テキスト ボックス 68">
              <a:extLst>
                <a:ext uri="{FF2B5EF4-FFF2-40B4-BE49-F238E27FC236}">
                  <a16:creationId xmlns:a16="http://schemas.microsoft.com/office/drawing/2014/main" id="{9FA3DB0B-4480-F6D4-14E8-12CA4D374025}"/>
                </a:ext>
              </a:extLst>
            </p:cNvPr>
            <p:cNvSpPr txBox="1"/>
            <p:nvPr/>
          </p:nvSpPr>
          <p:spPr>
            <a:xfrm>
              <a:off x="5335029" y="1452989"/>
              <a:ext cx="166549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16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統計的仮説検定</a:t>
              </a:r>
              <a:endParaRPr kumimoji="1" lang="ja-JP" altLang="en-US" sz="1600" b="1"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70" name="テキスト ボックス 69">
              <a:extLst>
                <a:ext uri="{FF2B5EF4-FFF2-40B4-BE49-F238E27FC236}">
                  <a16:creationId xmlns:a16="http://schemas.microsoft.com/office/drawing/2014/main" id="{A1B5FF57-7D1F-F707-7B3A-1DFDE3E52F6B}"/>
                </a:ext>
              </a:extLst>
            </p:cNvPr>
            <p:cNvSpPr txBox="1"/>
            <p:nvPr/>
          </p:nvSpPr>
          <p:spPr>
            <a:xfrm>
              <a:off x="7872383" y="1437183"/>
              <a:ext cx="166549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16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統計的仮説検定</a:t>
              </a:r>
              <a:endParaRPr kumimoji="1" lang="ja-JP" altLang="en-US" sz="1600" b="1"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71" name="角丸四角形 70">
              <a:extLst>
                <a:ext uri="{FF2B5EF4-FFF2-40B4-BE49-F238E27FC236}">
                  <a16:creationId xmlns:a16="http://schemas.microsoft.com/office/drawing/2014/main" id="{E4B73113-BF77-2072-1845-121C00D550D2}"/>
                </a:ext>
              </a:extLst>
            </p:cNvPr>
            <p:cNvSpPr/>
            <p:nvPr/>
          </p:nvSpPr>
          <p:spPr>
            <a:xfrm>
              <a:off x="5081305" y="5829475"/>
              <a:ext cx="5015216" cy="956655"/>
            </a:xfrm>
            <a:prstGeom prst="roundRect">
              <a:avLst/>
            </a:prstGeom>
            <a:noFill/>
            <a:ln w="2857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テキスト ボックス 71">
              <a:extLst>
                <a:ext uri="{FF2B5EF4-FFF2-40B4-BE49-F238E27FC236}">
                  <a16:creationId xmlns:a16="http://schemas.microsoft.com/office/drawing/2014/main" id="{16ED0477-1CD4-B759-9D2A-5486F9F0D3F4}"/>
                </a:ext>
              </a:extLst>
            </p:cNvPr>
            <p:cNvSpPr txBox="1"/>
            <p:nvPr/>
          </p:nvSpPr>
          <p:spPr>
            <a:xfrm>
              <a:off x="5233591" y="5597161"/>
              <a:ext cx="1766931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16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授業</a:t>
              </a:r>
              <a:r>
                <a:rPr lang="ja-JP" altLang="en-US" sz="12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r>
                <a:rPr lang="ja-JP" altLang="en-US" sz="16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ふりかえり</a:t>
              </a:r>
              <a:endParaRPr kumimoji="1" lang="ja-JP" altLang="en-US" sz="1600" b="1"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4174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4091A731-7653-7F67-8E14-E3CAB1EE01CD}"/>
              </a:ext>
            </a:extLst>
          </p:cNvPr>
          <p:cNvGrpSpPr/>
          <p:nvPr/>
        </p:nvGrpSpPr>
        <p:grpSpPr>
          <a:xfrm>
            <a:off x="982547" y="1311007"/>
            <a:ext cx="9448591" cy="3997287"/>
            <a:chOff x="982547" y="1311007"/>
            <a:chExt cx="9448591" cy="39972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角丸四角形 1">
                  <a:extLst>
                    <a:ext uri="{FF2B5EF4-FFF2-40B4-BE49-F238E27FC236}">
                      <a16:creationId xmlns:a16="http://schemas.microsoft.com/office/drawing/2014/main" id="{5BCA78D8-0A3B-FC09-4A53-838564FBAFE9}"/>
                    </a:ext>
                  </a:extLst>
                </p:cNvPr>
                <p:cNvSpPr/>
                <p:nvPr/>
              </p:nvSpPr>
              <p:spPr>
                <a:xfrm>
                  <a:off x="1178805" y="1311007"/>
                  <a:ext cx="2688116" cy="1112704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2800" b="1">
                      <a:solidFill>
                        <a:schemeClr val="tx1"/>
                      </a:solidFill>
                      <a:latin typeface="Hiragino Sans W8" panose="020B0400000000000000" pitchFamily="34" charset="-128"/>
                      <a:ea typeface="Hiragino Sans W8" panose="020B0400000000000000" pitchFamily="34" charset="-128"/>
                    </a:rPr>
                    <a:t>独立変数</a:t>
                  </a:r>
                  <a14:m>
                    <m:oMath xmlns:m="http://schemas.openxmlformats.org/officeDocument/2006/math">
                      <m:r>
                        <a:rPr lang="en-US" altLang="ja-JP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a14:m>
                  <a:endParaRPr kumimoji="1" lang="ja-JP" altLang="en-US" sz="2800" b="1">
                    <a:solidFill>
                      <a:schemeClr val="tx1"/>
                    </a:solidFill>
                    <a:latin typeface="Hiragino Sans W8" panose="020B0400000000000000" pitchFamily="34" charset="-128"/>
                    <a:ea typeface="Hiragino Sans W8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" name="角丸四角形 1">
                  <a:extLst>
                    <a:ext uri="{FF2B5EF4-FFF2-40B4-BE49-F238E27FC236}">
                      <a16:creationId xmlns:a16="http://schemas.microsoft.com/office/drawing/2014/main" id="{5BCA78D8-0A3B-FC09-4A53-838564FBAF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805" y="1311007"/>
                  <a:ext cx="2688116" cy="1112704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角丸四角形 2">
                  <a:extLst>
                    <a:ext uri="{FF2B5EF4-FFF2-40B4-BE49-F238E27FC236}">
                      <a16:creationId xmlns:a16="http://schemas.microsoft.com/office/drawing/2014/main" id="{EB66B263-179A-D187-D94F-C24F825E872C}"/>
                    </a:ext>
                  </a:extLst>
                </p:cNvPr>
                <p:cNvSpPr/>
                <p:nvPr/>
              </p:nvSpPr>
              <p:spPr>
                <a:xfrm>
                  <a:off x="7743022" y="1311007"/>
                  <a:ext cx="2688116" cy="1112704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2800" b="1">
                      <a:solidFill>
                        <a:schemeClr val="tx1"/>
                      </a:solidFill>
                      <a:latin typeface="Hiragino Sans W8" panose="020B0400000000000000" pitchFamily="34" charset="-128"/>
                      <a:ea typeface="Hiragino Sans W8" panose="020B0400000000000000" pitchFamily="34" charset="-128"/>
                    </a:rPr>
                    <a:t>従属変数</a:t>
                  </a:r>
                  <a14:m>
                    <m:oMath xmlns:m="http://schemas.openxmlformats.org/officeDocument/2006/math">
                      <m:r>
                        <a:rPr kumimoji="1" lang="en-US" altLang="ja-JP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a14:m>
                  <a:endParaRPr kumimoji="1" lang="ja-JP" altLang="en-US" sz="2800" b="1">
                    <a:solidFill>
                      <a:schemeClr val="tx1"/>
                    </a:solidFill>
                    <a:latin typeface="Hiragino Sans W8" panose="020B0400000000000000" pitchFamily="34" charset="-128"/>
                    <a:ea typeface="Hiragino Sans W8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3" name="角丸四角形 2">
                  <a:extLst>
                    <a:ext uri="{FF2B5EF4-FFF2-40B4-BE49-F238E27FC236}">
                      <a16:creationId xmlns:a16="http://schemas.microsoft.com/office/drawing/2014/main" id="{EB66B263-179A-D187-D94F-C24F825E87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3022" y="1311007"/>
                  <a:ext cx="2688116" cy="1112704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角丸四角形 3">
                  <a:extLst>
                    <a:ext uri="{FF2B5EF4-FFF2-40B4-BE49-F238E27FC236}">
                      <a16:creationId xmlns:a16="http://schemas.microsoft.com/office/drawing/2014/main" id="{EE1A6004-2AEA-AA83-6737-21F6A370051F}"/>
                    </a:ext>
                  </a:extLst>
                </p:cNvPr>
                <p:cNvSpPr/>
                <p:nvPr/>
              </p:nvSpPr>
              <p:spPr>
                <a:xfrm>
                  <a:off x="1178805" y="4195590"/>
                  <a:ext cx="2688116" cy="1112704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2800" b="1">
                      <a:solidFill>
                        <a:schemeClr val="tx1"/>
                      </a:solidFill>
                      <a:latin typeface="Hiragino Sans W8" panose="020B0400000000000000" pitchFamily="34" charset="-128"/>
                      <a:ea typeface="Hiragino Sans W8" panose="020B0400000000000000" pitchFamily="34" charset="-128"/>
                    </a:rPr>
                    <a:t>誤差項</a:t>
                  </a:r>
                  <a14:m>
                    <m:oMath xmlns:m="http://schemas.openxmlformats.org/officeDocument/2006/math">
                      <m:r>
                        <a:rPr kumimoji="1" lang="en-US" altLang="ja-JP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𝜺</m:t>
                      </m:r>
                    </m:oMath>
                  </a14:m>
                  <a:endParaRPr kumimoji="1" lang="ja-JP" altLang="en-US" sz="2800" b="1">
                    <a:solidFill>
                      <a:schemeClr val="tx1"/>
                    </a:solidFill>
                    <a:latin typeface="Hiragino Sans W8" panose="020B0400000000000000" pitchFamily="34" charset="-128"/>
                    <a:ea typeface="Hiragino Sans W8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4" name="角丸四角形 3">
                  <a:extLst>
                    <a:ext uri="{FF2B5EF4-FFF2-40B4-BE49-F238E27FC236}">
                      <a16:creationId xmlns:a16="http://schemas.microsoft.com/office/drawing/2014/main" id="{EE1A6004-2AEA-AA83-6737-21F6A37005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805" y="4195590"/>
                  <a:ext cx="2688116" cy="1112704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右矢印 4">
              <a:extLst>
                <a:ext uri="{FF2B5EF4-FFF2-40B4-BE49-F238E27FC236}">
                  <a16:creationId xmlns:a16="http://schemas.microsoft.com/office/drawing/2014/main" id="{42ABEF9F-544D-0E0C-8518-CBB2A6739C2A}"/>
                </a:ext>
              </a:extLst>
            </p:cNvPr>
            <p:cNvSpPr/>
            <p:nvPr/>
          </p:nvSpPr>
          <p:spPr>
            <a:xfrm>
              <a:off x="4130407" y="1589183"/>
              <a:ext cx="3349128" cy="55635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右矢印 5">
              <a:extLst>
                <a:ext uri="{FF2B5EF4-FFF2-40B4-BE49-F238E27FC236}">
                  <a16:creationId xmlns:a16="http://schemas.microsoft.com/office/drawing/2014/main" id="{F40AEC62-17DF-568A-5FA9-10323D712E4F}"/>
                </a:ext>
              </a:extLst>
            </p:cNvPr>
            <p:cNvSpPr/>
            <p:nvPr/>
          </p:nvSpPr>
          <p:spPr>
            <a:xfrm rot="19845398">
              <a:off x="4006867" y="3493952"/>
              <a:ext cx="3845297" cy="55635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ACABEAF0-7121-5FC5-2DFC-819A3C834672}"/>
                </a:ext>
              </a:extLst>
            </p:cNvPr>
            <p:cNvCxnSpPr>
              <a:stCxn id="2" idx="2"/>
              <a:endCxn id="4" idx="0"/>
            </p:cNvCxnSpPr>
            <p:nvPr/>
          </p:nvCxnSpPr>
          <p:spPr>
            <a:xfrm>
              <a:off x="2522863" y="2423711"/>
              <a:ext cx="0" cy="1771879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F9E6074A-DF16-8572-D583-0941860CC2D6}"/>
                </a:ext>
              </a:extLst>
            </p:cNvPr>
            <p:cNvSpPr txBox="1"/>
            <p:nvPr/>
          </p:nvSpPr>
          <p:spPr>
            <a:xfrm>
              <a:off x="982547" y="3078818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相関関係</a:t>
              </a:r>
              <a:endParaRPr kumimoji="1" lang="ja-JP" altLang="en-US" sz="24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6995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FCE88E19-3A4A-642A-6CBF-F5D7BDDBF047}"/>
              </a:ext>
            </a:extLst>
          </p:cNvPr>
          <p:cNvGrpSpPr/>
          <p:nvPr/>
        </p:nvGrpSpPr>
        <p:grpSpPr>
          <a:xfrm>
            <a:off x="982547" y="542887"/>
            <a:ext cx="9448591" cy="4765407"/>
            <a:chOff x="982547" y="542887"/>
            <a:chExt cx="9448591" cy="4765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角丸四角形 2">
                  <a:extLst>
                    <a:ext uri="{FF2B5EF4-FFF2-40B4-BE49-F238E27FC236}">
                      <a16:creationId xmlns:a16="http://schemas.microsoft.com/office/drawing/2014/main" id="{08179E28-DBE0-90A6-DDC8-5D845B61440C}"/>
                    </a:ext>
                  </a:extLst>
                </p:cNvPr>
                <p:cNvSpPr/>
                <p:nvPr/>
              </p:nvSpPr>
              <p:spPr>
                <a:xfrm>
                  <a:off x="1178805" y="1311007"/>
                  <a:ext cx="2688116" cy="1112704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2800" b="1">
                      <a:solidFill>
                        <a:schemeClr val="tx1"/>
                      </a:solidFill>
                      <a:latin typeface="Hiragino Sans W8" panose="020B0400000000000000" pitchFamily="34" charset="-128"/>
                      <a:ea typeface="Hiragino Sans W8" panose="020B0400000000000000" pitchFamily="34" charset="-128"/>
                    </a:rPr>
                    <a:t>ドーナツ</a:t>
                  </a:r>
                  <a14:m>
                    <m:oMath xmlns:m="http://schemas.openxmlformats.org/officeDocument/2006/math">
                      <m:r>
                        <a:rPr lang="en-US" altLang="ja-JP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a14:m>
                  <a:endParaRPr kumimoji="1" lang="ja-JP" altLang="en-US" sz="2800" b="1">
                    <a:solidFill>
                      <a:schemeClr val="tx1"/>
                    </a:solidFill>
                    <a:latin typeface="Hiragino Sans W8" panose="020B0400000000000000" pitchFamily="34" charset="-128"/>
                    <a:ea typeface="Hiragino Sans W8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3" name="角丸四角形 2">
                  <a:extLst>
                    <a:ext uri="{FF2B5EF4-FFF2-40B4-BE49-F238E27FC236}">
                      <a16:creationId xmlns:a16="http://schemas.microsoft.com/office/drawing/2014/main" id="{08179E28-DBE0-90A6-DDC8-5D845B6144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805" y="1311007"/>
                  <a:ext cx="2688116" cy="1112704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角丸四角形 3">
                  <a:extLst>
                    <a:ext uri="{FF2B5EF4-FFF2-40B4-BE49-F238E27FC236}">
                      <a16:creationId xmlns:a16="http://schemas.microsoft.com/office/drawing/2014/main" id="{63ECF54C-7BA1-D146-CA65-B2640B817A3D}"/>
                    </a:ext>
                  </a:extLst>
                </p:cNvPr>
                <p:cNvSpPr/>
                <p:nvPr/>
              </p:nvSpPr>
              <p:spPr>
                <a:xfrm>
                  <a:off x="7743022" y="1311007"/>
                  <a:ext cx="2688116" cy="1112704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2800" b="1">
                      <a:solidFill>
                        <a:schemeClr val="tx1"/>
                      </a:solidFill>
                      <a:latin typeface="Hiragino Sans W8" panose="020B0400000000000000" pitchFamily="34" charset="-128"/>
                      <a:ea typeface="Hiragino Sans W8" panose="020B0400000000000000" pitchFamily="34" charset="-128"/>
                    </a:rPr>
                    <a:t>体重</a:t>
                  </a:r>
                  <a14:m>
                    <m:oMath xmlns:m="http://schemas.openxmlformats.org/officeDocument/2006/math">
                      <m:r>
                        <a:rPr kumimoji="1" lang="en-US" altLang="ja-JP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a14:m>
                  <a:endParaRPr kumimoji="1" lang="ja-JP" altLang="en-US" sz="2800" b="1">
                    <a:solidFill>
                      <a:schemeClr val="tx1"/>
                    </a:solidFill>
                    <a:latin typeface="Hiragino Sans W8" panose="020B0400000000000000" pitchFamily="34" charset="-128"/>
                    <a:ea typeface="Hiragino Sans W8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4" name="角丸四角形 3">
                  <a:extLst>
                    <a:ext uri="{FF2B5EF4-FFF2-40B4-BE49-F238E27FC236}">
                      <a16:creationId xmlns:a16="http://schemas.microsoft.com/office/drawing/2014/main" id="{63ECF54C-7BA1-D146-CA65-B2640B817A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3022" y="1311007"/>
                  <a:ext cx="2688116" cy="1112704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角丸四角形 4">
                  <a:extLst>
                    <a:ext uri="{FF2B5EF4-FFF2-40B4-BE49-F238E27FC236}">
                      <a16:creationId xmlns:a16="http://schemas.microsoft.com/office/drawing/2014/main" id="{5E1FE5FF-A516-B7E2-F933-CFDE2B205BCD}"/>
                    </a:ext>
                  </a:extLst>
                </p:cNvPr>
                <p:cNvSpPr/>
                <p:nvPr/>
              </p:nvSpPr>
              <p:spPr>
                <a:xfrm>
                  <a:off x="1178805" y="4195590"/>
                  <a:ext cx="2688116" cy="1112704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2800" b="1">
                      <a:solidFill>
                        <a:schemeClr val="tx1"/>
                      </a:solidFill>
                      <a:latin typeface="Hiragino Sans W8" panose="020B0400000000000000" pitchFamily="34" charset="-128"/>
                      <a:ea typeface="Hiragino Sans W8" panose="020B0400000000000000" pitchFamily="34" charset="-128"/>
                    </a:rPr>
                    <a:t>誤差項</a:t>
                  </a:r>
                  <a14:m>
                    <m:oMath xmlns:m="http://schemas.openxmlformats.org/officeDocument/2006/math">
                      <m:r>
                        <a:rPr kumimoji="1" lang="en-US" altLang="ja-JP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𝜺</m:t>
                      </m:r>
                    </m:oMath>
                  </a14:m>
                  <a:br>
                    <a:rPr kumimoji="1" lang="en-US" altLang="ja-JP" sz="2800" b="1" dirty="0">
                      <a:solidFill>
                        <a:schemeClr val="tx1"/>
                      </a:solidFill>
                      <a:latin typeface="Hiragino Sans W8" panose="020B0400000000000000" pitchFamily="34" charset="-128"/>
                      <a:ea typeface="Hiragino Sans W8" panose="020B0400000000000000" pitchFamily="34" charset="-128"/>
                    </a:rPr>
                  </a:br>
                  <a:r>
                    <a:rPr kumimoji="1" lang="ja-JP" altLang="en-US" sz="20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例：身長</a:t>
                  </a:r>
                  <a:endParaRPr kumimoji="1" lang="ja-JP" altLang="en-US" sz="2800" b="1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5" name="角丸四角形 4">
                  <a:extLst>
                    <a:ext uri="{FF2B5EF4-FFF2-40B4-BE49-F238E27FC236}">
                      <a16:creationId xmlns:a16="http://schemas.microsoft.com/office/drawing/2014/main" id="{5E1FE5FF-A516-B7E2-F933-CFDE2B205B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805" y="4195590"/>
                  <a:ext cx="2688116" cy="1112704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右矢印 5">
              <a:extLst>
                <a:ext uri="{FF2B5EF4-FFF2-40B4-BE49-F238E27FC236}">
                  <a16:creationId xmlns:a16="http://schemas.microsoft.com/office/drawing/2014/main" id="{DC8AD7A7-A552-166A-B66C-E1BDD5152CA0}"/>
                </a:ext>
              </a:extLst>
            </p:cNvPr>
            <p:cNvSpPr/>
            <p:nvPr/>
          </p:nvSpPr>
          <p:spPr>
            <a:xfrm>
              <a:off x="4130407" y="1589183"/>
              <a:ext cx="3349128" cy="55635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右矢印 6">
              <a:extLst>
                <a:ext uri="{FF2B5EF4-FFF2-40B4-BE49-F238E27FC236}">
                  <a16:creationId xmlns:a16="http://schemas.microsoft.com/office/drawing/2014/main" id="{00794D2B-E5E4-73D5-32AB-A1FB2E5D83C8}"/>
                </a:ext>
              </a:extLst>
            </p:cNvPr>
            <p:cNvSpPr/>
            <p:nvPr/>
          </p:nvSpPr>
          <p:spPr>
            <a:xfrm rot="19845398">
              <a:off x="4006867" y="3493952"/>
              <a:ext cx="3845297" cy="55635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F6DBB40F-74AF-C858-9A6A-1B1D789F26A6}"/>
                </a:ext>
              </a:extLst>
            </p:cNvPr>
            <p:cNvCxnSpPr>
              <a:stCxn id="3" idx="2"/>
              <a:endCxn id="5" idx="0"/>
            </p:cNvCxnSpPr>
            <p:nvPr/>
          </p:nvCxnSpPr>
          <p:spPr>
            <a:xfrm>
              <a:off x="2522863" y="2423711"/>
              <a:ext cx="0" cy="1771879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3A64D053-ACF3-43A9-2726-95A93E6817A8}"/>
                </a:ext>
              </a:extLst>
            </p:cNvPr>
            <p:cNvSpPr txBox="1"/>
            <p:nvPr/>
          </p:nvSpPr>
          <p:spPr>
            <a:xfrm>
              <a:off x="982547" y="3078818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相関関係</a:t>
              </a:r>
              <a:endParaRPr kumimoji="1" lang="ja-JP" altLang="en-US" sz="24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9BBA96B-F608-3D42-F6DB-FB4C94AC6359}"/>
                </a:ext>
              </a:extLst>
            </p:cNvPr>
            <p:cNvSpPr txBox="1"/>
            <p:nvPr/>
          </p:nvSpPr>
          <p:spPr>
            <a:xfrm>
              <a:off x="4173755" y="542887"/>
              <a:ext cx="32624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見せかけの相関かも？</a:t>
              </a:r>
            </a:p>
          </p:txBody>
        </p: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F2C7E508-E480-1A5F-7F70-33478D013A57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5804971" y="1004552"/>
              <a:ext cx="0" cy="721217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1075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75D09ABA-567C-65E1-8F77-A794E8202606}"/>
              </a:ext>
            </a:extLst>
          </p:cNvPr>
          <p:cNvGrpSpPr/>
          <p:nvPr/>
        </p:nvGrpSpPr>
        <p:grpSpPr>
          <a:xfrm>
            <a:off x="1178805" y="1311007"/>
            <a:ext cx="9252333" cy="3997287"/>
            <a:chOff x="1178805" y="1311007"/>
            <a:chExt cx="9252333" cy="39972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角丸四角形 2">
                  <a:extLst>
                    <a:ext uri="{FF2B5EF4-FFF2-40B4-BE49-F238E27FC236}">
                      <a16:creationId xmlns:a16="http://schemas.microsoft.com/office/drawing/2014/main" id="{92C0FE3F-AE04-4BA5-FCBF-8321E9C1F0CE}"/>
                    </a:ext>
                  </a:extLst>
                </p:cNvPr>
                <p:cNvSpPr/>
                <p:nvPr/>
              </p:nvSpPr>
              <p:spPr>
                <a:xfrm>
                  <a:off x="1178805" y="1311007"/>
                  <a:ext cx="2688116" cy="1112704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sz="2800" b="1">
                      <a:solidFill>
                        <a:schemeClr val="tx1"/>
                      </a:solidFill>
                      <a:latin typeface="Hiragino Sans W8" panose="020B0400000000000000" pitchFamily="34" charset="-128"/>
                      <a:ea typeface="Hiragino Sans W8" panose="020B0400000000000000" pitchFamily="34" charset="-128"/>
                    </a:rPr>
                    <a:t>新薬の投与</a:t>
                  </a:r>
                  <a14:m>
                    <m:oMath xmlns:m="http://schemas.openxmlformats.org/officeDocument/2006/math">
                      <m:r>
                        <a:rPr lang="en-US" altLang="ja-JP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a14:m>
                  <a:endParaRPr kumimoji="1" lang="ja-JP" altLang="en-US" sz="2800" b="1">
                    <a:solidFill>
                      <a:schemeClr val="tx1"/>
                    </a:solidFill>
                    <a:latin typeface="Hiragino Sans W8" panose="020B0400000000000000" pitchFamily="34" charset="-128"/>
                    <a:ea typeface="Hiragino Sans W8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3" name="角丸四角形 2">
                  <a:extLst>
                    <a:ext uri="{FF2B5EF4-FFF2-40B4-BE49-F238E27FC236}">
                      <a16:creationId xmlns:a16="http://schemas.microsoft.com/office/drawing/2014/main" id="{92C0FE3F-AE04-4BA5-FCBF-8321E9C1F0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805" y="1311007"/>
                  <a:ext cx="2688116" cy="1112704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角丸四角形 3">
                  <a:extLst>
                    <a:ext uri="{FF2B5EF4-FFF2-40B4-BE49-F238E27FC236}">
                      <a16:creationId xmlns:a16="http://schemas.microsoft.com/office/drawing/2014/main" id="{B6BEBCC4-F480-D12D-CA05-549426BE100A}"/>
                    </a:ext>
                  </a:extLst>
                </p:cNvPr>
                <p:cNvSpPr/>
                <p:nvPr/>
              </p:nvSpPr>
              <p:spPr>
                <a:xfrm>
                  <a:off x="7743022" y="1311007"/>
                  <a:ext cx="2688116" cy="1112704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2800" b="1">
                      <a:solidFill>
                        <a:schemeClr val="tx1"/>
                      </a:solidFill>
                      <a:latin typeface="Hiragino Sans W8" panose="020B0400000000000000" pitchFamily="34" charset="-128"/>
                      <a:ea typeface="Hiragino Sans W8" panose="020B0400000000000000" pitchFamily="34" charset="-128"/>
                    </a:rPr>
                    <a:t>死亡率</a:t>
                  </a:r>
                  <a14:m>
                    <m:oMath xmlns:m="http://schemas.openxmlformats.org/officeDocument/2006/math">
                      <m:r>
                        <a:rPr kumimoji="1" lang="en-US" altLang="ja-JP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a14:m>
                  <a:endParaRPr kumimoji="1" lang="ja-JP" altLang="en-US" sz="2800" b="1">
                    <a:solidFill>
                      <a:schemeClr val="tx1"/>
                    </a:solidFill>
                    <a:latin typeface="Hiragino Sans W8" panose="020B0400000000000000" pitchFamily="34" charset="-128"/>
                    <a:ea typeface="Hiragino Sans W8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4" name="角丸四角形 3">
                  <a:extLst>
                    <a:ext uri="{FF2B5EF4-FFF2-40B4-BE49-F238E27FC236}">
                      <a16:creationId xmlns:a16="http://schemas.microsoft.com/office/drawing/2014/main" id="{B6BEBCC4-F480-D12D-CA05-549426BE10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3022" y="1311007"/>
                  <a:ext cx="2688116" cy="1112704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角丸四角形 4">
                  <a:extLst>
                    <a:ext uri="{FF2B5EF4-FFF2-40B4-BE49-F238E27FC236}">
                      <a16:creationId xmlns:a16="http://schemas.microsoft.com/office/drawing/2014/main" id="{E47A86E2-F736-6FCD-50B5-76FD063D7457}"/>
                    </a:ext>
                  </a:extLst>
                </p:cNvPr>
                <p:cNvSpPr/>
                <p:nvPr/>
              </p:nvSpPr>
              <p:spPr>
                <a:xfrm>
                  <a:off x="1178805" y="4195590"/>
                  <a:ext cx="2688116" cy="1112704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2800" b="1">
                      <a:solidFill>
                        <a:schemeClr val="tx1"/>
                      </a:solidFill>
                      <a:latin typeface="Hiragino Sans W8" panose="020B0400000000000000" pitchFamily="34" charset="-128"/>
                      <a:ea typeface="Hiragino Sans W8" panose="020B0400000000000000" pitchFamily="34" charset="-128"/>
                    </a:rPr>
                    <a:t>誤差項</a:t>
                  </a:r>
                  <a14:m>
                    <m:oMath xmlns:m="http://schemas.openxmlformats.org/officeDocument/2006/math">
                      <m:r>
                        <a:rPr kumimoji="1" lang="en-US" altLang="ja-JP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𝜺</m:t>
                      </m:r>
                    </m:oMath>
                  </a14:m>
                  <a:endParaRPr kumimoji="1" lang="en-US" altLang="ja-JP" sz="2800" b="1" dirty="0">
                    <a:solidFill>
                      <a:schemeClr val="tx1"/>
                    </a:solidFill>
                    <a:latin typeface="Hiragino Sans W8" panose="020B0400000000000000" pitchFamily="34" charset="-128"/>
                    <a:ea typeface="Hiragino Sans W8" panose="020B0400000000000000" pitchFamily="34" charset="-128"/>
                  </a:endParaRPr>
                </a:p>
                <a:p>
                  <a:pPr algn="ctr"/>
                  <a:r>
                    <a:rPr kumimoji="1" lang="ja-JP" altLang="en-US" sz="20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例：体質</a:t>
                  </a:r>
                </a:p>
              </p:txBody>
            </p:sp>
          </mc:Choice>
          <mc:Fallback xmlns="">
            <p:sp>
              <p:nvSpPr>
                <p:cNvPr id="5" name="角丸四角形 4">
                  <a:extLst>
                    <a:ext uri="{FF2B5EF4-FFF2-40B4-BE49-F238E27FC236}">
                      <a16:creationId xmlns:a16="http://schemas.microsoft.com/office/drawing/2014/main" id="{E47A86E2-F736-6FCD-50B5-76FD063D74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805" y="4195590"/>
                  <a:ext cx="2688116" cy="1112704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右矢印 5">
              <a:extLst>
                <a:ext uri="{FF2B5EF4-FFF2-40B4-BE49-F238E27FC236}">
                  <a16:creationId xmlns:a16="http://schemas.microsoft.com/office/drawing/2014/main" id="{20FD50A2-5469-A93F-5DDA-7336E291A888}"/>
                </a:ext>
              </a:extLst>
            </p:cNvPr>
            <p:cNvSpPr/>
            <p:nvPr/>
          </p:nvSpPr>
          <p:spPr>
            <a:xfrm>
              <a:off x="4130407" y="1589183"/>
              <a:ext cx="3349128" cy="55635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右矢印 6">
              <a:extLst>
                <a:ext uri="{FF2B5EF4-FFF2-40B4-BE49-F238E27FC236}">
                  <a16:creationId xmlns:a16="http://schemas.microsoft.com/office/drawing/2014/main" id="{8DD0A604-75D0-74A8-DEE4-2345A1356C15}"/>
                </a:ext>
              </a:extLst>
            </p:cNvPr>
            <p:cNvSpPr/>
            <p:nvPr/>
          </p:nvSpPr>
          <p:spPr>
            <a:xfrm rot="19845398">
              <a:off x="4006867" y="3493952"/>
              <a:ext cx="3845297" cy="55635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C699DED0-7C99-1155-E4B2-A59586318035}"/>
                </a:ext>
              </a:extLst>
            </p:cNvPr>
            <p:cNvCxnSpPr>
              <a:stCxn id="3" idx="2"/>
              <a:endCxn id="5" idx="0"/>
            </p:cNvCxnSpPr>
            <p:nvPr/>
          </p:nvCxnSpPr>
          <p:spPr>
            <a:xfrm>
              <a:off x="2522863" y="2423711"/>
              <a:ext cx="0" cy="1771879"/>
            </a:xfrm>
            <a:prstGeom prst="straightConnector1">
              <a:avLst/>
            </a:prstGeom>
            <a:ln w="57150">
              <a:solidFill>
                <a:schemeClr val="tx1">
                  <a:alpha val="16196"/>
                </a:schemeClr>
              </a:solidFill>
              <a:prstDash val="sysDot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8499B92D-08D8-272D-502E-514B884ECEDB}"/>
                </a:ext>
              </a:extLst>
            </p:cNvPr>
            <p:cNvSpPr txBox="1"/>
            <p:nvPr/>
          </p:nvSpPr>
          <p:spPr>
            <a:xfrm>
              <a:off x="1695097" y="3082886"/>
              <a:ext cx="16243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無相関</a:t>
              </a:r>
              <a:endParaRPr kumimoji="1" lang="ja-JP" altLang="en-US" sz="32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3997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67CBA2E1-0EC2-A817-871B-1894109E4A50}"/>
              </a:ext>
            </a:extLst>
          </p:cNvPr>
          <p:cNvGrpSpPr/>
          <p:nvPr/>
        </p:nvGrpSpPr>
        <p:grpSpPr>
          <a:xfrm>
            <a:off x="529340" y="645670"/>
            <a:ext cx="11133320" cy="5566660"/>
            <a:chOff x="529340" y="645670"/>
            <a:chExt cx="11133320" cy="5566660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AE82E1DA-D152-D3D3-2DF6-B503B6BE0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9340" y="645670"/>
              <a:ext cx="11133320" cy="5566660"/>
            </a:xfrm>
            <a:prstGeom prst="rect">
              <a:avLst/>
            </a:prstGeom>
          </p:spPr>
        </p:pic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06C76FDB-F36A-C7DE-7FDD-910997F5048D}"/>
                </a:ext>
              </a:extLst>
            </p:cNvPr>
            <p:cNvCxnSpPr/>
            <p:nvPr/>
          </p:nvCxnSpPr>
          <p:spPr>
            <a:xfrm flipV="1">
              <a:off x="1682167" y="1559741"/>
              <a:ext cx="9028090" cy="355456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B4DCFC4-7EA1-9DC9-52AF-FE67A7202E31}"/>
                    </a:ext>
                  </a:extLst>
                </p:cNvPr>
                <p:cNvSpPr txBox="1"/>
                <p:nvPr/>
              </p:nvSpPr>
              <p:spPr>
                <a:xfrm>
                  <a:off x="8251375" y="2940276"/>
                  <a:ext cx="3217184" cy="1006173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ja-JP" altLang="en-US" sz="2800"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適当に引いた線</a:t>
                  </a:r>
                  <a:endParaRPr kumimoji="1" lang="en-US" altLang="ja-JP" sz="2800" dirty="0"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2800" b="0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1" lang="en-US" altLang="ja-JP" sz="2800" b="0" i="1" smtClean="0"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ja-JP" sz="2800" b="0" i="1" smtClean="0"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  <m:t>𝑌</m:t>
                                </m:r>
                              </m:e>
                            </m:acc>
                          </m:e>
                          <m:sub>
                            <m:r>
                              <a:rPr kumimoji="1" lang="en-US" altLang="ja-JP" sz="2800" b="0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1" lang="en-US" altLang="ja-JP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ja-JP" sz="28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kumimoji="1" lang="en-US" altLang="ja-JP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1" lang="en-US" altLang="ja-JP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ja-JP" sz="28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kumimoji="1" lang="en-US" altLang="ja-JP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B4DCFC4-7EA1-9DC9-52AF-FE67A7202E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1375" y="2940276"/>
                  <a:ext cx="3217184" cy="1006173"/>
                </a:xfrm>
                <a:prstGeom prst="rect">
                  <a:avLst/>
                </a:prstGeom>
                <a:blipFill>
                  <a:blip r:embed="rId3"/>
                  <a:stretch>
                    <a:fillRect l="-3502" t="-3614" b="-4819"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右矢印 11">
              <a:extLst>
                <a:ext uri="{FF2B5EF4-FFF2-40B4-BE49-F238E27FC236}">
                  <a16:creationId xmlns:a16="http://schemas.microsoft.com/office/drawing/2014/main" id="{2FAA2537-CA00-0010-942B-DBC5EE139551}"/>
                </a:ext>
              </a:extLst>
            </p:cNvPr>
            <p:cNvSpPr/>
            <p:nvPr/>
          </p:nvSpPr>
          <p:spPr>
            <a:xfrm rot="13536141">
              <a:off x="9261748" y="2299544"/>
              <a:ext cx="815486" cy="367394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3198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73E1F-39F4-FBDB-D9AD-1C0CA01F2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B6C2852-3E5E-A0C7-10DB-067399038266}"/>
              </a:ext>
            </a:extLst>
          </p:cNvPr>
          <p:cNvGrpSpPr/>
          <p:nvPr/>
        </p:nvGrpSpPr>
        <p:grpSpPr>
          <a:xfrm>
            <a:off x="529340" y="645670"/>
            <a:ext cx="11133320" cy="5566660"/>
            <a:chOff x="529340" y="645670"/>
            <a:chExt cx="11133320" cy="5566660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BF1276B8-1FF2-5691-6F2F-AEC60DD08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9340" y="645670"/>
              <a:ext cx="11133320" cy="5566660"/>
            </a:xfrm>
            <a:prstGeom prst="rect">
              <a:avLst/>
            </a:prstGeom>
          </p:spPr>
        </p:pic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63A22BE3-27B2-63BD-973D-C7B005305F76}"/>
                </a:ext>
              </a:extLst>
            </p:cNvPr>
            <p:cNvCxnSpPr/>
            <p:nvPr/>
          </p:nvCxnSpPr>
          <p:spPr>
            <a:xfrm flipV="1">
              <a:off x="1682167" y="1559741"/>
              <a:ext cx="9028090" cy="355456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" name="上下矢印 1">
              <a:extLst>
                <a:ext uri="{FF2B5EF4-FFF2-40B4-BE49-F238E27FC236}">
                  <a16:creationId xmlns:a16="http://schemas.microsoft.com/office/drawing/2014/main" id="{59CF0085-D67F-E2C8-9BE7-74D19A3F09C6}"/>
                </a:ext>
              </a:extLst>
            </p:cNvPr>
            <p:cNvSpPr/>
            <p:nvPr/>
          </p:nvSpPr>
          <p:spPr>
            <a:xfrm>
              <a:off x="7535537" y="1200838"/>
              <a:ext cx="440675" cy="1399143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上下矢印 2">
              <a:extLst>
                <a:ext uri="{FF2B5EF4-FFF2-40B4-BE49-F238E27FC236}">
                  <a16:creationId xmlns:a16="http://schemas.microsoft.com/office/drawing/2014/main" id="{717A37D8-3DFE-D2E4-63E0-B0562209BA70}"/>
                </a:ext>
              </a:extLst>
            </p:cNvPr>
            <p:cNvSpPr/>
            <p:nvPr/>
          </p:nvSpPr>
          <p:spPr>
            <a:xfrm>
              <a:off x="6432013" y="3248139"/>
              <a:ext cx="440675" cy="1279794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上下矢印 3">
              <a:extLst>
                <a:ext uri="{FF2B5EF4-FFF2-40B4-BE49-F238E27FC236}">
                  <a16:creationId xmlns:a16="http://schemas.microsoft.com/office/drawing/2014/main" id="{D30E07B0-35EE-4E61-BC6B-4420EFD92ACB}"/>
                </a:ext>
              </a:extLst>
            </p:cNvPr>
            <p:cNvSpPr/>
            <p:nvPr/>
          </p:nvSpPr>
          <p:spPr>
            <a:xfrm>
              <a:off x="5117469" y="2858188"/>
              <a:ext cx="440675" cy="779901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35776470-5E21-4157-2B59-FF20A51D6F9F}"/>
                    </a:ext>
                  </a:extLst>
                </p:cNvPr>
                <p:cNvSpPr txBox="1"/>
                <p:nvPr/>
              </p:nvSpPr>
              <p:spPr>
                <a:xfrm>
                  <a:off x="1717872" y="804689"/>
                  <a:ext cx="4714141" cy="1596463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ja-JP" altLang="en-US" sz="3200"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引いた線との</a:t>
                  </a:r>
                  <a:r>
                    <a:rPr kumimoji="1" lang="ja-JP" altLang="en-US" sz="3200" b="1"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ずれ</a:t>
                  </a:r>
                  <a:endParaRPr kumimoji="1" lang="en-US" altLang="ja-JP" sz="3200" b="1" dirty="0"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  <a:p>
                  <a:r>
                    <a:rPr lang="ja-JP" altLang="en-US" sz="3200"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→最小化するような</a:t>
                  </a:r>
                  <a:r>
                    <a:rPr lang="ja-JP" altLang="en-US" sz="3200" b="1"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切片</a:t>
                  </a:r>
                  <a:r>
                    <a:rPr lang="en-US" altLang="ja-JP" sz="3200" dirty="0"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ja-JP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3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ja-JP" sz="3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ja-JP" sz="3200" dirty="0"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)</a:t>
                  </a:r>
                  <a:r>
                    <a:rPr lang="ja-JP" altLang="en-US" sz="3200"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と</a:t>
                  </a:r>
                  <a:r>
                    <a:rPr lang="ja-JP" altLang="en-US" sz="3200" b="1"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傾き</a:t>
                  </a:r>
                  <a:r>
                    <a:rPr lang="en-US" altLang="ja-JP" sz="3200" dirty="0"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ja-JP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3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ja-JP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ja-JP" sz="3200" dirty="0"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)</a:t>
                  </a:r>
                  <a:r>
                    <a:rPr lang="ja-JP" altLang="en-US" sz="3200"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を求める</a:t>
                  </a:r>
                  <a:endParaRPr kumimoji="1" lang="ja-JP" altLang="en-US" sz="3200"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35776470-5E21-4157-2B59-FF20A51D6F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7872" y="804689"/>
                  <a:ext cx="4714141" cy="1596463"/>
                </a:xfrm>
                <a:prstGeom prst="rect">
                  <a:avLst/>
                </a:prstGeom>
                <a:blipFill>
                  <a:blip r:embed="rId4"/>
                  <a:stretch>
                    <a:fillRect l="-2667" t="-3077" r="-2133" b="-10000"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上下矢印 5">
              <a:extLst>
                <a:ext uri="{FF2B5EF4-FFF2-40B4-BE49-F238E27FC236}">
                  <a16:creationId xmlns:a16="http://schemas.microsoft.com/office/drawing/2014/main" id="{861C6050-56B3-3A71-5C6A-1DCBECABD81A}"/>
                </a:ext>
              </a:extLst>
            </p:cNvPr>
            <p:cNvSpPr/>
            <p:nvPr/>
          </p:nvSpPr>
          <p:spPr>
            <a:xfrm>
              <a:off x="4676794" y="3888036"/>
              <a:ext cx="440675" cy="1135656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0018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BACBE3DB-D3DC-DB40-D5CE-D640DE7E5F18}"/>
              </a:ext>
            </a:extLst>
          </p:cNvPr>
          <p:cNvGrpSpPr/>
          <p:nvPr/>
        </p:nvGrpSpPr>
        <p:grpSpPr>
          <a:xfrm>
            <a:off x="0" y="355226"/>
            <a:ext cx="12058884" cy="6405653"/>
            <a:chOff x="0" y="355226"/>
            <a:chExt cx="12058884" cy="6405653"/>
          </a:xfrm>
        </p:grpSpPr>
        <p:sp>
          <p:nvSpPr>
            <p:cNvPr id="2" name="角丸四角形 1">
              <a:extLst>
                <a:ext uri="{FF2B5EF4-FFF2-40B4-BE49-F238E27FC236}">
                  <a16:creationId xmlns:a16="http://schemas.microsoft.com/office/drawing/2014/main" id="{A70AF9E6-E9A8-E511-50C9-CB8DEB3E9094}"/>
                </a:ext>
              </a:extLst>
            </p:cNvPr>
            <p:cNvSpPr/>
            <p:nvPr/>
          </p:nvSpPr>
          <p:spPr>
            <a:xfrm>
              <a:off x="4809785" y="789737"/>
              <a:ext cx="7249099" cy="5971142"/>
            </a:xfrm>
            <a:prstGeom prst="round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A4BDCA83-A6CF-BF9D-2086-D1A7037398EE}"/>
                </a:ext>
              </a:extLst>
            </p:cNvPr>
            <p:cNvSpPr txBox="1"/>
            <p:nvPr/>
          </p:nvSpPr>
          <p:spPr>
            <a:xfrm>
              <a:off x="7167394" y="1010075"/>
              <a:ext cx="25338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母集団</a:t>
              </a:r>
              <a:endParaRPr kumimoji="1" lang="ja-JP" altLang="en-US" b="1"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FA27365E-C8CF-2322-DE86-7EF1F63C4CE3}"/>
                </a:ext>
              </a:extLst>
            </p:cNvPr>
            <p:cNvSpPr txBox="1"/>
            <p:nvPr/>
          </p:nvSpPr>
          <p:spPr>
            <a:xfrm>
              <a:off x="5652573" y="1809503"/>
              <a:ext cx="556351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8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日本人が</a:t>
              </a:r>
              <a:r>
                <a:rPr lang="ja-JP" altLang="en-US" sz="28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洋画を</a:t>
              </a:r>
              <a:r>
                <a:rPr lang="en-US" altLang="ja-JP" sz="28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1</a:t>
              </a:r>
              <a:r>
                <a:rPr lang="ja-JP" altLang="en-US" sz="28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時間／週見ると</a:t>
              </a:r>
              <a:r>
                <a:rPr lang="en-US" altLang="ja-JP" sz="28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TOEIC</a:t>
              </a:r>
              <a:r>
                <a:rPr lang="ja-JP" altLang="en-US" sz="28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の点数は</a:t>
              </a:r>
              <a:r>
                <a:rPr lang="en-US" altLang="ja-JP" sz="28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20</a:t>
              </a:r>
              <a:r>
                <a:rPr lang="ja-JP" altLang="en-US" sz="28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点上がる。</a:t>
              </a:r>
              <a:endParaRPr kumimoji="1" lang="ja-JP" altLang="en-US" sz="28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7D05578D-2AD9-5FA3-DAE3-A77510B9F819}"/>
                    </a:ext>
                  </a:extLst>
                </p:cNvPr>
                <p:cNvSpPr txBox="1"/>
                <p:nvPr/>
              </p:nvSpPr>
              <p:spPr>
                <a:xfrm>
                  <a:off x="5490071" y="3402488"/>
                  <a:ext cx="5888517" cy="9594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kumimoji="1" lang="en-US" altLang="ja-JP" sz="2800" b="0" i="0" smtClean="0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TOEI</m:t>
                        </m:r>
                        <m:sSub>
                          <m:sSubPr>
                            <m:ctrlPr>
                              <a:rPr kumimoji="1" lang="en-US" altLang="ja-JP" sz="2800" b="0" i="0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800" b="0" i="0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ja-JP" sz="2800" b="0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ja-JP" sz="2800" b="0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kumimoji="1" lang="en-US" altLang="ja-JP" sz="2800" b="0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𝛽</m:t>
                            </m:r>
                          </m:e>
                          <m:sub>
                            <m:r>
                              <a:rPr kumimoji="1" lang="en-US" altLang="ja-JP" sz="2800" b="0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ja-JP" sz="2800" b="0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kumimoji="1" lang="en-US" altLang="ja-JP" sz="2800" b="0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𝛽</m:t>
                            </m:r>
                          </m:e>
                          <m:sub>
                            <m:r>
                              <a:rPr kumimoji="1" lang="en-US" altLang="ja-JP" sz="2800" b="0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1</m:t>
                            </m:r>
                          </m:sub>
                        </m:sSub>
                        <m:r>
                          <a:rPr lang="ja-JP" altLang="en-US" sz="2800" i="1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洋画</m:t>
                        </m:r>
                        <m:r>
                          <a:rPr lang="ja-JP" altLang="en-US" sz="2800" i="1" smtClean="0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視聴</m:t>
                        </m:r>
                        <m:r>
                          <a:rPr lang="ja-JP" altLang="en-US" sz="2800" i="1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時</m:t>
                        </m:r>
                        <m:sSub>
                          <m:sSubPr>
                            <m:ctrlPr>
                              <a:rPr lang="ja-JP" altLang="en-US" sz="2800" i="1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lang="ja-JP" altLang="en-US" sz="2800" i="1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間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𝑖</m:t>
                            </m:r>
                          </m:sub>
                        </m:sSub>
                        <m:r>
                          <a:rPr lang="en-US" altLang="ja-JP" sz="2800" b="0" i="1" smtClean="0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ja-JP" sz="2800" b="0" i="1" dirty="0">
                    <a:latin typeface="Cambria Math" panose="02040503050406030204" pitchFamily="18" charset="0"/>
                    <a:ea typeface="Hiragino Sans W4" panose="020B0400000000000000" pitchFamily="34" charset="-128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b="0" i="1" smtClean="0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0</m:t>
                            </m:r>
                          </m:sub>
                        </m:sSub>
                        <m:r>
                          <a:rPr lang="en-US" altLang="ja-JP" sz="2800" i="1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+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20×</m:t>
                        </m:r>
                        <m:r>
                          <a:rPr lang="ja-JP" altLang="en-US" sz="2800" i="1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洋画視聴時</m:t>
                        </m:r>
                        <m:sSub>
                          <m:sSubPr>
                            <m:ctrlPr>
                              <a:rPr lang="ja-JP" altLang="en-US" sz="2800" i="1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lang="ja-JP" altLang="en-US" sz="2800" i="1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間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𝑖</m:t>
                            </m:r>
                          </m:sub>
                        </m:sSub>
                        <m:r>
                          <a:rPr lang="en-US" altLang="ja-JP" sz="2800" i="1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ja-JP" sz="2800" b="0" dirty="0"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</p:txBody>
            </p:sp>
          </mc:Choice>
          <mc:Fallback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7D05578D-2AD9-5FA3-DAE3-A77510B9F8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0071" y="3402488"/>
                  <a:ext cx="5888517" cy="959493"/>
                </a:xfrm>
                <a:prstGeom prst="rect">
                  <a:avLst/>
                </a:prstGeom>
                <a:blipFill>
                  <a:blip r:embed="rId2"/>
                  <a:stretch>
                    <a:fillRect l="-430" b="-1039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58961720-90FB-44A9-223F-E4DD937DB5C2}"/>
                    </a:ext>
                  </a:extLst>
                </p:cNvPr>
                <p:cNvSpPr txBox="1"/>
                <p:nvPr/>
              </p:nvSpPr>
              <p:spPr>
                <a:xfrm>
                  <a:off x="5385412" y="5000859"/>
                  <a:ext cx="6097836" cy="13849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ja-JP" altLang="en-US" sz="2800" b="1">
                      <a:latin typeface="Cambria Math" panose="02040503050406030204" pitchFamily="18" charset="0"/>
                      <a:ea typeface="Hiragino Sans W4" panose="020B0400000000000000" pitchFamily="34" charset="-128"/>
                    </a:rPr>
                    <a:t>真の値：</a:t>
                  </a:r>
                  <a:endParaRPr kumimoji="1" lang="en-US" altLang="ja-JP" sz="2800" b="1" dirty="0">
                    <a:latin typeface="Cambria Math" panose="02040503050406030204" pitchFamily="18" charset="0"/>
                    <a:ea typeface="Hiragino Sans W4" panose="020B0400000000000000" pitchFamily="34" charset="-128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800" b="1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lang="en-US" altLang="ja-JP" sz="2800" b="1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ja-JP" sz="2800" b="1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𝟏</m:t>
                            </m:r>
                          </m:sub>
                        </m:sSub>
                        <m:r>
                          <a:rPr lang="en-US" altLang="ja-JP" sz="2800" b="1" i="1" smtClean="0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=</m:t>
                        </m:r>
                        <m:r>
                          <a:rPr lang="en-US" altLang="ja-JP" sz="2800" b="1" i="1" smtClean="0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𝟐𝟎</m:t>
                        </m:r>
                      </m:oMath>
                    </m:oMathPara>
                  </a14:m>
                  <a:endParaRPr kumimoji="1" lang="en-US" altLang="ja-JP" sz="2800" b="1" dirty="0">
                    <a:latin typeface="Cambria Math" panose="02040503050406030204" pitchFamily="18" charset="0"/>
                    <a:ea typeface="Hiragino Sans W4" panose="020B0400000000000000" pitchFamily="34" charset="-128"/>
                  </a:endParaRPr>
                </a:p>
                <a:p>
                  <a:pPr algn="ctr"/>
                  <a:r>
                    <a:rPr lang="en-US" altLang="ja-JP" sz="2800" dirty="0">
                      <a:latin typeface="Cambria Math" panose="02040503050406030204" pitchFamily="18" charset="0"/>
                      <a:ea typeface="Hiragino Sans W4" panose="020B0400000000000000" pitchFamily="34" charset="-128"/>
                    </a:rPr>
                    <a:t>【</a:t>
                  </a:r>
                  <a:r>
                    <a:rPr lang="ja-JP" altLang="en-US" sz="2800" u="sng">
                      <a:latin typeface="Cambria Math" panose="02040503050406030204" pitchFamily="18" charset="0"/>
                      <a:ea typeface="Hiragino Sans W4" panose="020B0400000000000000" pitchFamily="34" charset="-128"/>
                    </a:rPr>
                    <a:t>これを推定したい</a:t>
                  </a:r>
                  <a:r>
                    <a:rPr lang="en-US" altLang="ja-JP" sz="2800" dirty="0">
                      <a:latin typeface="Cambria Math" panose="02040503050406030204" pitchFamily="18" charset="0"/>
                      <a:ea typeface="Hiragino Sans W4" panose="020B0400000000000000" pitchFamily="34" charset="-128"/>
                    </a:rPr>
                    <a:t>】</a:t>
                  </a:r>
                  <a:endParaRPr kumimoji="1" lang="en-US" altLang="ja-JP" sz="2800" b="0" dirty="0">
                    <a:latin typeface="Cambria Math" panose="02040503050406030204" pitchFamily="18" charset="0"/>
                    <a:ea typeface="Hiragino Sans W4" panose="020B0400000000000000" pitchFamily="34" charset="-128"/>
                  </a:endParaRPr>
                </a:p>
              </p:txBody>
            </p:sp>
          </mc:Choice>
          <mc:Fallback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58961720-90FB-44A9-223F-E4DD937DB5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5412" y="5000859"/>
                  <a:ext cx="6097836" cy="1384995"/>
                </a:xfrm>
                <a:prstGeom prst="rect">
                  <a:avLst/>
                </a:prstGeom>
                <a:blipFill>
                  <a:blip r:embed="rId3"/>
                  <a:stretch>
                    <a:fillRect t="-5405" b="-991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等号 9">
              <a:extLst>
                <a:ext uri="{FF2B5EF4-FFF2-40B4-BE49-F238E27FC236}">
                  <a16:creationId xmlns:a16="http://schemas.microsoft.com/office/drawing/2014/main" id="{EE83D06A-085E-F6B3-A02B-8BFAEE2A0DB0}"/>
                </a:ext>
              </a:extLst>
            </p:cNvPr>
            <p:cNvSpPr/>
            <p:nvPr/>
          </p:nvSpPr>
          <p:spPr>
            <a:xfrm rot="5400000">
              <a:off x="8095561" y="4350917"/>
              <a:ext cx="677538" cy="666521"/>
            </a:xfrm>
            <a:prstGeom prst="mathEqual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等号 10">
              <a:extLst>
                <a:ext uri="{FF2B5EF4-FFF2-40B4-BE49-F238E27FC236}">
                  <a16:creationId xmlns:a16="http://schemas.microsoft.com/office/drawing/2014/main" id="{EF366DC3-E992-176D-2492-7E8CF2EF6891}"/>
                </a:ext>
              </a:extLst>
            </p:cNvPr>
            <p:cNvSpPr/>
            <p:nvPr/>
          </p:nvSpPr>
          <p:spPr>
            <a:xfrm rot="5400000">
              <a:off x="8095562" y="2783288"/>
              <a:ext cx="677538" cy="666521"/>
            </a:xfrm>
            <a:prstGeom prst="mathEqual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角丸四角形 11">
                  <a:extLst>
                    <a:ext uri="{FF2B5EF4-FFF2-40B4-BE49-F238E27FC236}">
                      <a16:creationId xmlns:a16="http://schemas.microsoft.com/office/drawing/2014/main" id="{AB5D17BD-EC59-9ED6-330C-099DCD497D34}"/>
                    </a:ext>
                  </a:extLst>
                </p:cNvPr>
                <p:cNvSpPr/>
                <p:nvPr/>
              </p:nvSpPr>
              <p:spPr>
                <a:xfrm>
                  <a:off x="1109946" y="355226"/>
                  <a:ext cx="2766155" cy="869022"/>
                </a:xfrm>
                <a:prstGeom prst="round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kumimoji="1" lang="ja-JP" altLang="en-US" sz="2400" b="1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標本</a:t>
                  </a:r>
                  <a:r>
                    <a:rPr kumimoji="1" lang="en-US" altLang="ja-JP" sz="2400" b="1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1</a:t>
                  </a:r>
                  <a:r>
                    <a:rPr kumimoji="1" lang="ja-JP" altLang="en-US" sz="24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（</a:t>
                  </a:r>
                  <a:r>
                    <a:rPr kumimoji="1" lang="en-US" altLang="ja-JP" sz="2400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n=100</a:t>
                  </a:r>
                  <a:r>
                    <a:rPr kumimoji="1" lang="ja-JP" altLang="en-US" sz="24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）</a:t>
                  </a:r>
                  <a:endParaRPr kumimoji="1" lang="en-US" altLang="ja-JP" sz="2400" dirty="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1" lang="en-US" altLang="ja-JP" sz="3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ja-JP" sz="3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kumimoji="1" lang="en-US" altLang="ja-JP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𝟏</m:t>
                            </m:r>
                          </m:sub>
                        </m:sSub>
                        <m:r>
                          <a:rPr lang="en-US" altLang="ja-JP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=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𝟏𝟖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.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𝟔</m:t>
                        </m:r>
                      </m:oMath>
                    </m:oMathPara>
                  </a14:m>
                  <a:endPara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</p:txBody>
            </p:sp>
          </mc:Choice>
          <mc:Fallback>
            <p:sp>
              <p:nvSpPr>
                <p:cNvPr id="12" name="角丸四角形 11">
                  <a:extLst>
                    <a:ext uri="{FF2B5EF4-FFF2-40B4-BE49-F238E27FC236}">
                      <a16:creationId xmlns:a16="http://schemas.microsoft.com/office/drawing/2014/main" id="{AB5D17BD-EC59-9ED6-330C-099DCD497D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946" y="355226"/>
                  <a:ext cx="2766155" cy="869022"/>
                </a:xfrm>
                <a:prstGeom prst="roundRect">
                  <a:avLst/>
                </a:prstGeom>
                <a:blipFill>
                  <a:blip r:embed="rId4"/>
                  <a:stretch>
                    <a:fillRect l="-901" t="-8333" b="-19444"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角丸四角形 12">
                  <a:extLst>
                    <a:ext uri="{FF2B5EF4-FFF2-40B4-BE49-F238E27FC236}">
                      <a16:creationId xmlns:a16="http://schemas.microsoft.com/office/drawing/2014/main" id="{C8C70190-4757-F1C1-2654-9D2E61E27E58}"/>
                    </a:ext>
                  </a:extLst>
                </p:cNvPr>
                <p:cNvSpPr/>
                <p:nvPr/>
              </p:nvSpPr>
              <p:spPr>
                <a:xfrm>
                  <a:off x="1109945" y="1429432"/>
                  <a:ext cx="2766155" cy="869022"/>
                </a:xfrm>
                <a:prstGeom prst="round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kumimoji="1" lang="ja-JP" altLang="en-US" sz="2400" b="1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標本</a:t>
                  </a:r>
                  <a:r>
                    <a:rPr lang="en-US" altLang="ja-JP" sz="2400" b="1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2</a:t>
                  </a:r>
                  <a:r>
                    <a:rPr kumimoji="1" lang="ja-JP" altLang="en-US" sz="24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（</a:t>
                  </a:r>
                  <a:r>
                    <a:rPr kumimoji="1" lang="en-US" altLang="ja-JP" sz="2400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n=100</a:t>
                  </a:r>
                  <a:r>
                    <a:rPr kumimoji="1" lang="ja-JP" altLang="en-US" sz="24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）</a:t>
                  </a:r>
                  <a:endParaRPr kumimoji="1" lang="en-US" altLang="ja-JP" sz="2400" dirty="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ja-JP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𝟏</m:t>
                            </m:r>
                          </m:sub>
                        </m:sSub>
                        <m:r>
                          <a:rPr lang="en-US" altLang="ja-JP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=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𝟐𝟎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.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𝟒</m:t>
                        </m:r>
                      </m:oMath>
                    </m:oMathPara>
                  </a14:m>
                  <a:endPara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</p:txBody>
            </p:sp>
          </mc:Choice>
          <mc:Fallback>
            <p:sp>
              <p:nvSpPr>
                <p:cNvPr id="13" name="角丸四角形 12">
                  <a:extLst>
                    <a:ext uri="{FF2B5EF4-FFF2-40B4-BE49-F238E27FC236}">
                      <a16:creationId xmlns:a16="http://schemas.microsoft.com/office/drawing/2014/main" id="{C8C70190-4757-F1C1-2654-9D2E61E27E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945" y="1429432"/>
                  <a:ext cx="2766155" cy="869022"/>
                </a:xfrm>
                <a:prstGeom prst="roundRect">
                  <a:avLst/>
                </a:prstGeom>
                <a:blipFill>
                  <a:blip r:embed="rId5"/>
                  <a:stretch>
                    <a:fillRect l="-901" t="-8219" b="-17808"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角丸四角形 13">
                  <a:extLst>
                    <a:ext uri="{FF2B5EF4-FFF2-40B4-BE49-F238E27FC236}">
                      <a16:creationId xmlns:a16="http://schemas.microsoft.com/office/drawing/2014/main" id="{88992105-5E8A-40B7-E190-256D793530D7}"/>
                    </a:ext>
                  </a:extLst>
                </p:cNvPr>
                <p:cNvSpPr/>
                <p:nvPr/>
              </p:nvSpPr>
              <p:spPr>
                <a:xfrm>
                  <a:off x="1098931" y="2503638"/>
                  <a:ext cx="2766155" cy="869022"/>
                </a:xfrm>
                <a:prstGeom prst="round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kumimoji="1" lang="ja-JP" altLang="en-US" sz="2400" b="1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標本</a:t>
                  </a:r>
                  <a:r>
                    <a:rPr kumimoji="1" lang="en-US" altLang="ja-JP" sz="2400" b="1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3</a:t>
                  </a:r>
                  <a:r>
                    <a:rPr kumimoji="1" lang="ja-JP" altLang="en-US" sz="24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（</a:t>
                  </a:r>
                  <a:r>
                    <a:rPr kumimoji="1" lang="en-US" altLang="ja-JP" sz="2400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n=100</a:t>
                  </a:r>
                  <a:r>
                    <a:rPr kumimoji="1" lang="ja-JP" altLang="en-US" sz="24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）</a:t>
                  </a:r>
                  <a:endParaRPr kumimoji="1" lang="en-US" altLang="ja-JP" sz="2400" dirty="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ja-JP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𝟏</m:t>
                            </m:r>
                          </m:sub>
                        </m:sSub>
                        <m:r>
                          <a:rPr lang="en-US" altLang="ja-JP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=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𝟏𝟕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.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𝟖</m:t>
                        </m:r>
                      </m:oMath>
                    </m:oMathPara>
                  </a14:m>
                  <a:endPara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</p:txBody>
            </p:sp>
          </mc:Choice>
          <mc:Fallback>
            <p:sp>
              <p:nvSpPr>
                <p:cNvPr id="14" name="角丸四角形 13">
                  <a:extLst>
                    <a:ext uri="{FF2B5EF4-FFF2-40B4-BE49-F238E27FC236}">
                      <a16:creationId xmlns:a16="http://schemas.microsoft.com/office/drawing/2014/main" id="{88992105-5E8A-40B7-E190-256D793530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931" y="2503638"/>
                  <a:ext cx="2766155" cy="869022"/>
                </a:xfrm>
                <a:prstGeom prst="roundRect">
                  <a:avLst/>
                </a:prstGeom>
                <a:blipFill>
                  <a:blip r:embed="rId6"/>
                  <a:stretch>
                    <a:fillRect l="-901" t="-8333" b="-19444"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角丸四角形 15">
                  <a:extLst>
                    <a:ext uri="{FF2B5EF4-FFF2-40B4-BE49-F238E27FC236}">
                      <a16:creationId xmlns:a16="http://schemas.microsoft.com/office/drawing/2014/main" id="{DE36C36C-4A9B-B067-E0F3-6234AAC318A4}"/>
                    </a:ext>
                  </a:extLst>
                </p:cNvPr>
                <p:cNvSpPr/>
                <p:nvPr/>
              </p:nvSpPr>
              <p:spPr>
                <a:xfrm>
                  <a:off x="1098931" y="3574601"/>
                  <a:ext cx="2766155" cy="985655"/>
                </a:xfrm>
                <a:prstGeom prst="round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kumimoji="1" lang="ja-JP" altLang="en-US" sz="2400" b="1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標本</a:t>
                  </a:r>
                  <a:r>
                    <a:rPr kumimoji="1" lang="en-US" altLang="ja-JP" sz="2400" b="1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4</a:t>
                  </a:r>
                  <a:r>
                    <a:rPr kumimoji="1" lang="ja-JP" altLang="en-US" sz="24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（</a:t>
                  </a:r>
                  <a:r>
                    <a:rPr kumimoji="1" lang="en-US" altLang="ja-JP" sz="2400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n=100</a:t>
                  </a:r>
                  <a:r>
                    <a:rPr kumimoji="1" lang="ja-JP" altLang="en-US" sz="24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）</a:t>
                  </a:r>
                  <a:endParaRPr kumimoji="1" lang="en-US" altLang="ja-JP" sz="2400" dirty="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ja-JP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𝟏</m:t>
                            </m:r>
                          </m:sub>
                        </m:sSub>
                        <m:r>
                          <a:rPr lang="en-US" altLang="ja-JP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=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𝟐𝟐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.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𝟑</m:t>
                        </m:r>
                      </m:oMath>
                    </m:oMathPara>
                  </a14:m>
                  <a:endPara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</p:txBody>
            </p:sp>
          </mc:Choice>
          <mc:Fallback>
            <p:sp>
              <p:nvSpPr>
                <p:cNvPr id="16" name="角丸四角形 15">
                  <a:extLst>
                    <a:ext uri="{FF2B5EF4-FFF2-40B4-BE49-F238E27FC236}">
                      <a16:creationId xmlns:a16="http://schemas.microsoft.com/office/drawing/2014/main" id="{DE36C36C-4A9B-B067-E0F3-6234AAC318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931" y="3574601"/>
                  <a:ext cx="2766155" cy="985655"/>
                </a:xfrm>
                <a:prstGeom prst="roundRect">
                  <a:avLst/>
                </a:prstGeom>
                <a:blipFill>
                  <a:blip r:embed="rId7"/>
                  <a:stretch>
                    <a:fillRect l="-901" t="-2439" b="-10976"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角丸四角形 16">
                  <a:extLst>
                    <a:ext uri="{FF2B5EF4-FFF2-40B4-BE49-F238E27FC236}">
                      <a16:creationId xmlns:a16="http://schemas.microsoft.com/office/drawing/2014/main" id="{2452C6C4-EDE8-986C-4F5C-540332CCE924}"/>
                    </a:ext>
                  </a:extLst>
                </p:cNvPr>
                <p:cNvSpPr/>
                <p:nvPr/>
              </p:nvSpPr>
              <p:spPr>
                <a:xfrm>
                  <a:off x="1109945" y="4762197"/>
                  <a:ext cx="2766155" cy="985655"/>
                </a:xfrm>
                <a:prstGeom prst="round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kumimoji="1" lang="ja-JP" altLang="en-US" sz="2400" b="1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標本</a:t>
                  </a:r>
                  <a:r>
                    <a:rPr lang="en-US" altLang="ja-JP" sz="2400" b="1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5</a:t>
                  </a:r>
                  <a:r>
                    <a:rPr kumimoji="1" lang="ja-JP" altLang="en-US" sz="24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（</a:t>
                  </a:r>
                  <a:r>
                    <a:rPr kumimoji="1" lang="en-US" altLang="ja-JP" sz="2400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n=100</a:t>
                  </a:r>
                  <a:r>
                    <a:rPr kumimoji="1" lang="ja-JP" altLang="en-US" sz="24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）</a:t>
                  </a:r>
                  <a:endParaRPr kumimoji="1" lang="en-US" altLang="ja-JP" sz="2400" dirty="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ja-JP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𝟏</m:t>
                            </m:r>
                          </m:sub>
                        </m:sSub>
                        <m:r>
                          <a:rPr lang="en-US" altLang="ja-JP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=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𝟏𝟗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.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𝟕</m:t>
                        </m:r>
                      </m:oMath>
                    </m:oMathPara>
                  </a14:m>
                  <a:endPara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</p:txBody>
            </p:sp>
          </mc:Choice>
          <mc:Fallback>
            <p:sp>
              <p:nvSpPr>
                <p:cNvPr id="17" name="角丸四角形 16">
                  <a:extLst>
                    <a:ext uri="{FF2B5EF4-FFF2-40B4-BE49-F238E27FC236}">
                      <a16:creationId xmlns:a16="http://schemas.microsoft.com/office/drawing/2014/main" id="{2452C6C4-EDE8-986C-4F5C-540332CCE9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945" y="4762197"/>
                  <a:ext cx="2766155" cy="985655"/>
                </a:xfrm>
                <a:prstGeom prst="roundRect">
                  <a:avLst/>
                </a:prstGeom>
                <a:blipFill>
                  <a:blip r:embed="rId8"/>
                  <a:stretch>
                    <a:fillRect l="-901" t="-2439" b="-9756"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5123BCB0-47BE-BC55-EBD5-231A657E227B}"/>
                </a:ext>
              </a:extLst>
            </p:cNvPr>
            <p:cNvSpPr txBox="1"/>
            <p:nvPr/>
          </p:nvSpPr>
          <p:spPr>
            <a:xfrm rot="5400000">
              <a:off x="2036212" y="5731983"/>
              <a:ext cx="89159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5400" b="1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…</a:t>
              </a:r>
              <a:endParaRPr kumimoji="1" lang="ja-JP" altLang="en-US" sz="5400" b="1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20" name="右矢印 19">
              <a:extLst>
                <a:ext uri="{FF2B5EF4-FFF2-40B4-BE49-F238E27FC236}">
                  <a16:creationId xmlns:a16="http://schemas.microsoft.com/office/drawing/2014/main" id="{96B03C96-D6EA-281B-027F-D1103813B253}"/>
                </a:ext>
              </a:extLst>
            </p:cNvPr>
            <p:cNvSpPr/>
            <p:nvPr/>
          </p:nvSpPr>
          <p:spPr>
            <a:xfrm flipH="1">
              <a:off x="3899970" y="511561"/>
              <a:ext cx="794133" cy="55635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右矢印 20">
              <a:extLst>
                <a:ext uri="{FF2B5EF4-FFF2-40B4-BE49-F238E27FC236}">
                  <a16:creationId xmlns:a16="http://schemas.microsoft.com/office/drawing/2014/main" id="{6E1C81EA-1CD9-ACC2-B38B-300CDC1E06CE}"/>
                </a:ext>
              </a:extLst>
            </p:cNvPr>
            <p:cNvSpPr/>
            <p:nvPr/>
          </p:nvSpPr>
          <p:spPr>
            <a:xfrm flipH="1">
              <a:off x="3899970" y="1585767"/>
              <a:ext cx="794133" cy="55635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右矢印 21">
              <a:extLst>
                <a:ext uri="{FF2B5EF4-FFF2-40B4-BE49-F238E27FC236}">
                  <a16:creationId xmlns:a16="http://schemas.microsoft.com/office/drawing/2014/main" id="{04E10C11-9AC6-B566-8AFC-7DEA58193F0A}"/>
                </a:ext>
              </a:extLst>
            </p:cNvPr>
            <p:cNvSpPr/>
            <p:nvPr/>
          </p:nvSpPr>
          <p:spPr>
            <a:xfrm flipH="1">
              <a:off x="3877481" y="2659973"/>
              <a:ext cx="794133" cy="55635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右矢印 22">
              <a:extLst>
                <a:ext uri="{FF2B5EF4-FFF2-40B4-BE49-F238E27FC236}">
                  <a16:creationId xmlns:a16="http://schemas.microsoft.com/office/drawing/2014/main" id="{A0D768B1-B17D-83BE-9DDA-1AE99E6D41B6}"/>
                </a:ext>
              </a:extLst>
            </p:cNvPr>
            <p:cNvSpPr/>
            <p:nvPr/>
          </p:nvSpPr>
          <p:spPr>
            <a:xfrm flipH="1">
              <a:off x="3899970" y="3775308"/>
              <a:ext cx="794133" cy="55635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右矢印 23">
              <a:extLst>
                <a:ext uri="{FF2B5EF4-FFF2-40B4-BE49-F238E27FC236}">
                  <a16:creationId xmlns:a16="http://schemas.microsoft.com/office/drawing/2014/main" id="{D2DBE6BF-0B81-06DA-5F84-B75C2131947F}"/>
                </a:ext>
              </a:extLst>
            </p:cNvPr>
            <p:cNvSpPr/>
            <p:nvPr/>
          </p:nvSpPr>
          <p:spPr>
            <a:xfrm flipH="1">
              <a:off x="3899969" y="4976848"/>
              <a:ext cx="794133" cy="55635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左中かっこ 4">
              <a:extLst>
                <a:ext uri="{FF2B5EF4-FFF2-40B4-BE49-F238E27FC236}">
                  <a16:creationId xmlns:a16="http://schemas.microsoft.com/office/drawing/2014/main" id="{7525696C-A4ED-7558-7DD1-EBFAECE297CF}"/>
                </a:ext>
              </a:extLst>
            </p:cNvPr>
            <p:cNvSpPr/>
            <p:nvPr/>
          </p:nvSpPr>
          <p:spPr>
            <a:xfrm>
              <a:off x="532940" y="370595"/>
              <a:ext cx="473725" cy="6268849"/>
            </a:xfrm>
            <a:prstGeom prst="leftBrac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0B2E27F2-7C6B-E0BE-F98F-98290F73AA85}"/>
                </a:ext>
              </a:extLst>
            </p:cNvPr>
            <p:cNvSpPr txBox="1"/>
            <p:nvPr/>
          </p:nvSpPr>
          <p:spPr>
            <a:xfrm>
              <a:off x="0" y="2659973"/>
              <a:ext cx="553998" cy="179664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vert="eaVert" wrap="square" rtlCol="0">
              <a:spAutoFit/>
            </a:bodyPr>
            <a:lstStyle/>
            <a:p>
              <a:pPr algn="ctr"/>
              <a:r>
                <a:rPr kumimoji="1" lang="ja-JP" altLang="en-US" sz="24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正規分布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939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5198321D-CD25-24D4-0796-575CB2F39903}"/>
              </a:ext>
            </a:extLst>
          </p:cNvPr>
          <p:cNvGrpSpPr/>
          <p:nvPr/>
        </p:nvGrpSpPr>
        <p:grpSpPr>
          <a:xfrm>
            <a:off x="1267812" y="1023970"/>
            <a:ext cx="9805330" cy="5060036"/>
            <a:chOff x="1267812" y="1023970"/>
            <a:chExt cx="9805330" cy="50600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角丸四角形 2">
                  <a:extLst>
                    <a:ext uri="{FF2B5EF4-FFF2-40B4-BE49-F238E27FC236}">
                      <a16:creationId xmlns:a16="http://schemas.microsoft.com/office/drawing/2014/main" id="{A5ECD3BF-A8DA-376A-8668-932ACF948F79}"/>
                    </a:ext>
                  </a:extLst>
                </p:cNvPr>
                <p:cNvSpPr/>
                <p:nvPr/>
              </p:nvSpPr>
              <p:spPr>
                <a:xfrm>
                  <a:off x="1820809" y="1836742"/>
                  <a:ext cx="2688116" cy="1112704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2400" b="1">
                      <a:solidFill>
                        <a:schemeClr val="tx1"/>
                      </a:solidFill>
                      <a:latin typeface="Hiragino Sans W8" panose="020B0400000000000000" pitchFamily="34" charset="-128"/>
                      <a:ea typeface="Hiragino Sans W8" panose="020B0400000000000000" pitchFamily="34" charset="-128"/>
                    </a:rPr>
                    <a:t>アイスクリーム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8" panose="020B0400000000000000" pitchFamily="34" charset="-128"/>
                            </a:rPr>
                          </m:ctrlPr>
                        </m:sSubPr>
                        <m:e>
                          <m:r>
                            <a:rPr lang="en-US" altLang="ja-JP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8" panose="020B0400000000000000" pitchFamily="34" charset="-128"/>
                            </a:rPr>
                            <m:t>𝑿</m:t>
                          </m:r>
                        </m:e>
                        <m:sub>
                          <m:r>
                            <a:rPr lang="en-US" altLang="ja-JP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8" panose="020B0400000000000000" pitchFamily="34" charset="-128"/>
                            </a:rPr>
                            <m:t>𝒊</m:t>
                          </m:r>
                        </m:sub>
                      </m:sSub>
                    </m:oMath>
                  </a14:m>
                  <a:endParaRPr kumimoji="1" lang="ja-JP" altLang="en-US" sz="2400" b="1">
                    <a:solidFill>
                      <a:schemeClr val="tx1"/>
                    </a:solidFill>
                    <a:latin typeface="Hiragino Sans W8" panose="020B0400000000000000" pitchFamily="34" charset="-128"/>
                    <a:ea typeface="Hiragino Sans W8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3" name="角丸四角形 2">
                  <a:extLst>
                    <a:ext uri="{FF2B5EF4-FFF2-40B4-BE49-F238E27FC236}">
                      <a16:creationId xmlns:a16="http://schemas.microsoft.com/office/drawing/2014/main" id="{A5ECD3BF-A8DA-376A-8668-932ACF948F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0809" y="1836742"/>
                  <a:ext cx="2688116" cy="1112704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角丸四角形 3">
                  <a:extLst>
                    <a:ext uri="{FF2B5EF4-FFF2-40B4-BE49-F238E27FC236}">
                      <a16:creationId xmlns:a16="http://schemas.microsoft.com/office/drawing/2014/main" id="{54B6239C-4EB8-45E8-7469-7D0ED1E625A2}"/>
                    </a:ext>
                  </a:extLst>
                </p:cNvPr>
                <p:cNvSpPr/>
                <p:nvPr/>
              </p:nvSpPr>
              <p:spPr>
                <a:xfrm>
                  <a:off x="8385026" y="1836742"/>
                  <a:ext cx="2688116" cy="1112704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2800" b="1">
                      <a:solidFill>
                        <a:schemeClr val="tx1"/>
                      </a:solidFill>
                      <a:latin typeface="Hiragino Sans W8" panose="020B0400000000000000" pitchFamily="34" charset="-128"/>
                      <a:ea typeface="Hiragino Sans W8" panose="020B0400000000000000" pitchFamily="34" charset="-128"/>
                    </a:rPr>
                    <a:t>凶悪犯罪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8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US" altLang="ja-JP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8" panose="020B0400000000000000" pitchFamily="34" charset="-128"/>
                            </a:rPr>
                            <m:t>𝒀</m:t>
                          </m:r>
                        </m:e>
                        <m:sub>
                          <m:r>
                            <a:rPr kumimoji="1" lang="en-US" altLang="ja-JP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8" panose="020B0400000000000000" pitchFamily="34" charset="-128"/>
                            </a:rPr>
                            <m:t>𝒊</m:t>
                          </m:r>
                        </m:sub>
                      </m:sSub>
                    </m:oMath>
                  </a14:m>
                  <a:endParaRPr kumimoji="1" lang="ja-JP" altLang="en-US" sz="2800" b="1">
                    <a:solidFill>
                      <a:schemeClr val="tx1"/>
                    </a:solidFill>
                    <a:latin typeface="Hiragino Sans W8" panose="020B0400000000000000" pitchFamily="34" charset="-128"/>
                    <a:ea typeface="Hiragino Sans W8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4" name="角丸四角形 3">
                  <a:extLst>
                    <a:ext uri="{FF2B5EF4-FFF2-40B4-BE49-F238E27FC236}">
                      <a16:creationId xmlns:a16="http://schemas.microsoft.com/office/drawing/2014/main" id="{54B6239C-4EB8-45E8-7469-7D0ED1E625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5026" y="1836742"/>
                  <a:ext cx="2688116" cy="1112704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角丸四角形 4">
                  <a:extLst>
                    <a:ext uri="{FF2B5EF4-FFF2-40B4-BE49-F238E27FC236}">
                      <a16:creationId xmlns:a16="http://schemas.microsoft.com/office/drawing/2014/main" id="{2EC21F6C-58CE-8711-D11F-4FA94EA78418}"/>
                    </a:ext>
                  </a:extLst>
                </p:cNvPr>
                <p:cNvSpPr/>
                <p:nvPr/>
              </p:nvSpPr>
              <p:spPr>
                <a:xfrm>
                  <a:off x="1820809" y="4721325"/>
                  <a:ext cx="2688116" cy="1112704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2800" b="1">
                      <a:solidFill>
                        <a:schemeClr val="tx1"/>
                      </a:solidFill>
                      <a:latin typeface="Hiragino Sans W8" panose="020B0400000000000000" pitchFamily="34" charset="-128"/>
                      <a:ea typeface="Hiragino Sans W8" panose="020B0400000000000000" pitchFamily="34" charset="-128"/>
                    </a:rPr>
                    <a:t>誤差項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8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US" altLang="ja-JP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8" panose="020B0400000000000000" pitchFamily="34" charset="-128"/>
                            </a:rPr>
                            <m:t>𝜺</m:t>
                          </m:r>
                        </m:e>
                        <m:sub>
                          <m:r>
                            <a:rPr kumimoji="1" lang="en-US" altLang="ja-JP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8" panose="020B0400000000000000" pitchFamily="34" charset="-128"/>
                            </a:rPr>
                            <m:t>𝒊</m:t>
                          </m:r>
                        </m:sub>
                      </m:sSub>
                    </m:oMath>
                  </a14:m>
                  <a:br>
                    <a:rPr kumimoji="1" lang="en-US" altLang="ja-JP" sz="2800" b="1" dirty="0">
                      <a:solidFill>
                        <a:schemeClr val="tx1"/>
                      </a:solidFill>
                      <a:latin typeface="Hiragino Sans W8" panose="020B0400000000000000" pitchFamily="34" charset="-128"/>
                      <a:ea typeface="Hiragino Sans W8" panose="020B0400000000000000" pitchFamily="34" charset="-128"/>
                    </a:rPr>
                  </a:br>
                  <a:r>
                    <a:rPr kumimoji="1" lang="ja-JP" altLang="en-US" sz="20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例：暑さ</a:t>
                  </a:r>
                  <a:endParaRPr kumimoji="1" lang="en-US" altLang="ja-JP" sz="2000" dirty="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5" name="角丸四角形 4">
                  <a:extLst>
                    <a:ext uri="{FF2B5EF4-FFF2-40B4-BE49-F238E27FC236}">
                      <a16:creationId xmlns:a16="http://schemas.microsoft.com/office/drawing/2014/main" id="{2EC21F6C-58CE-8711-D11F-4FA94EA784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0809" y="4721325"/>
                  <a:ext cx="2688116" cy="1112704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右矢印 5">
              <a:extLst>
                <a:ext uri="{FF2B5EF4-FFF2-40B4-BE49-F238E27FC236}">
                  <a16:creationId xmlns:a16="http://schemas.microsoft.com/office/drawing/2014/main" id="{38EF0A46-BA32-7091-43BE-364E2864607E}"/>
                </a:ext>
              </a:extLst>
            </p:cNvPr>
            <p:cNvSpPr/>
            <p:nvPr/>
          </p:nvSpPr>
          <p:spPr>
            <a:xfrm>
              <a:off x="4772411" y="2114918"/>
              <a:ext cx="3349128" cy="556352"/>
            </a:xfrm>
            <a:prstGeom prst="rightArrow">
              <a:avLst/>
            </a:prstGeom>
            <a:solidFill>
              <a:schemeClr val="tx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右矢印 6">
              <a:extLst>
                <a:ext uri="{FF2B5EF4-FFF2-40B4-BE49-F238E27FC236}">
                  <a16:creationId xmlns:a16="http://schemas.microsoft.com/office/drawing/2014/main" id="{7F551598-7FE7-FD3A-D699-003B60DBAB33}"/>
                </a:ext>
              </a:extLst>
            </p:cNvPr>
            <p:cNvSpPr/>
            <p:nvPr/>
          </p:nvSpPr>
          <p:spPr>
            <a:xfrm rot="19845398">
              <a:off x="4648871" y="4019687"/>
              <a:ext cx="3845297" cy="55635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1D90A420-678C-626C-B008-8974449CF438}"/>
                </a:ext>
              </a:extLst>
            </p:cNvPr>
            <p:cNvCxnSpPr>
              <a:stCxn id="3" idx="2"/>
              <a:endCxn id="5" idx="0"/>
            </p:cNvCxnSpPr>
            <p:nvPr/>
          </p:nvCxnSpPr>
          <p:spPr>
            <a:xfrm>
              <a:off x="3164867" y="2949446"/>
              <a:ext cx="0" cy="1771879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3A5076D1-7A27-D7F6-4505-36417D124D1C}"/>
                    </a:ext>
                  </a:extLst>
                </p:cNvPr>
                <p:cNvSpPr txBox="1"/>
                <p:nvPr/>
              </p:nvSpPr>
              <p:spPr>
                <a:xfrm>
                  <a:off x="1267812" y="3476153"/>
                  <a:ext cx="1748107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ja-JP" altLang="en-US" sz="2800"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相関関係</a:t>
                  </a:r>
                  <a:endParaRPr lang="en-US" altLang="ja-JP" sz="2800" dirty="0"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kumimoji="1" lang="en-US" altLang="ja-JP" sz="2800" b="0" i="0" smtClean="0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corr</m:t>
                        </m:r>
                        <m:r>
                          <a:rPr kumimoji="1" lang="en-US" altLang="ja-JP" sz="2800" b="0" i="0" smtClean="0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kumimoji="1" lang="en-US" altLang="ja-JP" sz="2800" b="0" i="0" smtClean="0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X</m:t>
                        </m:r>
                        <m:r>
                          <a:rPr kumimoji="1" lang="en-US" altLang="ja-JP" sz="2800" b="0" i="0" smtClean="0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ja-JP" sz="2800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ε</m:t>
                        </m:r>
                        <m:r>
                          <a:rPr kumimoji="1" lang="en-US" altLang="ja-JP" sz="2800" b="0" i="0" smtClean="0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)</m:t>
                        </m:r>
                      </m:oMath>
                    </m:oMathPara>
                  </a14:m>
                  <a:endParaRPr kumimoji="1" lang="ja-JP" altLang="en-US" sz="2800"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3A5076D1-7A27-D7F6-4505-36417D124D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7812" y="3476153"/>
                  <a:ext cx="1748107" cy="954107"/>
                </a:xfrm>
                <a:prstGeom prst="rect">
                  <a:avLst/>
                </a:prstGeom>
                <a:blipFill>
                  <a:blip r:embed="rId6"/>
                  <a:stretch>
                    <a:fillRect l="-2878" t="-6579" r="-2878" b="-1184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CE721D2E-0DFB-FACD-3297-AE4B871CB3A3}"/>
                    </a:ext>
                  </a:extLst>
                </p:cNvPr>
                <p:cNvSpPr txBox="1"/>
                <p:nvPr/>
              </p:nvSpPr>
              <p:spPr>
                <a:xfrm>
                  <a:off x="5057816" y="1023970"/>
                  <a:ext cx="2778325" cy="6335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  <a:ea typeface="Hiragino Sans W4" panose="020B0400000000000000" pitchFamily="34" charset="-128"/>
                            </a:rPr>
                          </m:ctrlPr>
                        </m:sSubPr>
                        <m:e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  <a:ea typeface="Hiragino Sans W4" panose="020B0400000000000000" pitchFamily="34" charset="-128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  <a:ea typeface="Hiragino Sans W4" panose="020B0400000000000000" pitchFamily="34" charset="-128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  <a:ea typeface="Hiragino Sans W4" panose="020B0400000000000000" pitchFamily="34" charset="-128"/>
                        </a:rPr>
                        <m:t>=0</m:t>
                      </m:r>
                    </m:oMath>
                  </a14:m>
                  <a:r>
                    <a:rPr lang="ja-JP" altLang="en-US" sz="2000" dirty="0"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（真</a:t>
                  </a:r>
                  <a:r>
                    <a:rPr lang="ja-JP" altLang="en-US" sz="2000"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の値）</a:t>
                  </a:r>
                  <a:endParaRPr dirty="0"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</p:txBody>
            </p:sp>
          </mc:Choice>
          <mc:Fallback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CE721D2E-0DFB-FACD-3297-AE4B871CB3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7816" y="1023970"/>
                  <a:ext cx="2778325" cy="633571"/>
                </a:xfrm>
                <a:prstGeom prst="rect">
                  <a:avLst/>
                </a:prstGeom>
                <a:blipFill>
                  <a:blip r:embed="rId7"/>
                  <a:stretch>
                    <a:fillRect l="-4110" r="-2283" b="-2549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1E3E265E-1D13-90C3-BC0C-D16F98EAFE35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flipH="1">
              <a:off x="6446975" y="1657541"/>
              <a:ext cx="4" cy="54931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6F78B04B-3DA7-81F7-3E4B-97E4D319AED1}"/>
                    </a:ext>
                  </a:extLst>
                </p:cNvPr>
                <p:cNvSpPr txBox="1"/>
                <p:nvPr/>
              </p:nvSpPr>
              <p:spPr>
                <a:xfrm>
                  <a:off x="6574025" y="4721325"/>
                  <a:ext cx="4499117" cy="1362681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ja-JP" sz="2800" b="0" dirty="0">
                      <a:solidFill>
                        <a:schemeClr val="tx1"/>
                      </a:solidFill>
                      <a:effectLst/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OLS</a:t>
                  </a:r>
                  <a:r>
                    <a:rPr lang="ja-JP" altLang="en-US" sz="2800" b="0">
                      <a:solidFill>
                        <a:schemeClr val="tx1"/>
                      </a:solidFill>
                      <a:effectLst/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推定値</a:t>
                  </a:r>
                  <a14:m>
                    <m:oMath xmlns:m="http://schemas.openxmlformats.org/officeDocument/2006/math">
                      <m:acc>
                        <m:accPr>
                          <m:chr m:val="ˆ"/>
                          <m:ctrlPr>
                            <a:rPr lang="ja-JP" altLang="ja-JP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ja-JP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ja-JP" altLang="ja-JP" sz="28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ja-JP" altLang="ja-JP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a14:m>
                  <a:r>
                    <a:rPr lang="ja-JP" altLang="en-US" sz="2800" b="0">
                      <a:solidFill>
                        <a:schemeClr val="tx1"/>
                      </a:solidFill>
                      <a:effectLst/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の期待値：</a:t>
                  </a:r>
                  <a:endParaRPr lang="en-US" altLang="ja-JP" sz="2800" b="0" dirty="0">
                    <a:solidFill>
                      <a:schemeClr val="tx1"/>
                    </a:solidFill>
                    <a:effectLst/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ja-JP" altLang="ja-JP" sz="28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ja-JP" altLang="ja-JP" sz="28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ja-JP" altLang="ja-JP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ja-JP" altLang="ja-JP" sz="28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ja-JP" sz="28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ja-JP" altLang="ja-JP" sz="28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  <m:r>
                          <a:rPr lang="ja-JP" altLang="ja-JP" sz="28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ja-JP" altLang="ja-JP" sz="28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ja-JP" sz="28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ja-JP" altLang="ja-JP" sz="28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ja-JP" altLang="ja-JP" sz="28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ja-JP" altLang="ja-JP" sz="2800" b="0" i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corr</m:t>
                        </m:r>
                        <m:d>
                          <m:dPr>
                            <m:ctrlPr>
                              <a:rPr lang="ja-JP" altLang="ja-JP" sz="28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ja-JP" sz="28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ja-JP" altLang="ja-JP" sz="28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ja-JP" altLang="ja-JP" sz="28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  <m:f>
                          <m:fPr>
                            <m:ctrlPr>
                              <a:rPr lang="ja-JP" altLang="ja-JP" sz="28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ja-JP" altLang="ja-JP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ja-JP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ja-JP" altLang="ja-JP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ja-JP" altLang="ja-JP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ja-JP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ja-JP" altLang="ja-JP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altLang="ja-JP" sz="2800" b="0" dirty="0">
                    <a:solidFill>
                      <a:schemeClr val="tx1"/>
                    </a:solidFill>
                    <a:effectLst/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6F78B04B-3DA7-81F7-3E4B-97E4D319AE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4025" y="4721325"/>
                  <a:ext cx="4499117" cy="1362681"/>
                </a:xfrm>
                <a:prstGeom prst="rect">
                  <a:avLst/>
                </a:prstGeom>
                <a:blipFill>
                  <a:blip r:embed="rId8"/>
                  <a:stretch>
                    <a:fillRect t="-3604" r="-559" b="-901"/>
                  </a:stretch>
                </a:blipFill>
                <a:ln w="31750"/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9804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2BB396D1-F73F-F887-76EB-686FBBED76B8}"/>
              </a:ext>
            </a:extLst>
          </p:cNvPr>
          <p:cNvGrpSpPr/>
          <p:nvPr/>
        </p:nvGrpSpPr>
        <p:grpSpPr>
          <a:xfrm>
            <a:off x="606840" y="593541"/>
            <a:ext cx="10978320" cy="5670919"/>
            <a:chOff x="606840" y="593541"/>
            <a:chExt cx="10978320" cy="5670919"/>
          </a:xfrm>
        </p:grpSpPr>
        <p:sp>
          <p:nvSpPr>
            <p:cNvPr id="22" name="角丸四角形 21">
              <a:extLst>
                <a:ext uri="{FF2B5EF4-FFF2-40B4-BE49-F238E27FC236}">
                  <a16:creationId xmlns:a16="http://schemas.microsoft.com/office/drawing/2014/main" id="{DC2EED71-CE35-A19F-E20F-31F8CDF3C7AF}"/>
                </a:ext>
              </a:extLst>
            </p:cNvPr>
            <p:cNvSpPr/>
            <p:nvPr/>
          </p:nvSpPr>
          <p:spPr>
            <a:xfrm>
              <a:off x="8809816" y="593541"/>
              <a:ext cx="2687668" cy="5670919"/>
            </a:xfrm>
            <a:prstGeom prst="round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D92D106B-48BA-9B33-68A2-5348862D6141}"/>
                </a:ext>
              </a:extLst>
            </p:cNvPr>
            <p:cNvSpPr txBox="1"/>
            <p:nvPr/>
          </p:nvSpPr>
          <p:spPr>
            <a:xfrm>
              <a:off x="8697669" y="1331764"/>
              <a:ext cx="28874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母集団</a:t>
              </a:r>
              <a:endParaRPr kumimoji="1" lang="ja-JP" altLang="en-US" b="1"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CDBFAD5B-B76C-D156-3835-D06DBAA65279}"/>
                    </a:ext>
                  </a:extLst>
                </p:cNvPr>
                <p:cNvSpPr txBox="1"/>
                <p:nvPr/>
              </p:nvSpPr>
              <p:spPr>
                <a:xfrm>
                  <a:off x="8965800" y="4367669"/>
                  <a:ext cx="2400169" cy="10156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ja-JP" altLang="en-US" sz="2800" b="1">
                      <a:latin typeface="Cambria Math" panose="02040503050406030204" pitchFamily="18" charset="0"/>
                      <a:ea typeface="Hiragino Sans W4" panose="020B0400000000000000" pitchFamily="34" charset="-128"/>
                    </a:rPr>
                    <a:t>真の値：</a:t>
                  </a:r>
                  <a:endParaRPr kumimoji="1" lang="en-US" altLang="ja-JP" sz="2800" b="1" dirty="0">
                    <a:latin typeface="Cambria Math" panose="02040503050406030204" pitchFamily="18" charset="0"/>
                    <a:ea typeface="Hiragino Sans W4" panose="020B0400000000000000" pitchFamily="34" charset="-128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3200" b="1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r>
                              <a:rPr lang="en-US" altLang="ja-JP" sz="3200" b="1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ja-JP" sz="3200" b="1" i="1" smtClean="0"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𝟏</m:t>
                            </m:r>
                          </m:sub>
                        </m:sSub>
                        <m:r>
                          <a:rPr lang="en-US" altLang="ja-JP" sz="3200" b="1" i="1" smtClean="0"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=?</m:t>
                        </m:r>
                      </m:oMath>
                    </m:oMathPara>
                  </a14:m>
                  <a:endParaRPr kumimoji="1" lang="en-US" altLang="ja-JP" sz="2800" b="1" dirty="0">
                    <a:latin typeface="Cambria Math" panose="02040503050406030204" pitchFamily="18" charset="0"/>
                    <a:ea typeface="Hiragino Sans W4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CDBFAD5B-B76C-D156-3835-D06DBAA652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5800" y="4367669"/>
                  <a:ext cx="2400169" cy="1015663"/>
                </a:xfrm>
                <a:prstGeom prst="rect">
                  <a:avLst/>
                </a:prstGeom>
                <a:blipFill>
                  <a:blip r:embed="rId3"/>
                  <a:stretch>
                    <a:fillRect t="-7407" b="-1234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角丸四角形 23">
                  <a:extLst>
                    <a:ext uri="{FF2B5EF4-FFF2-40B4-BE49-F238E27FC236}">
                      <a16:creationId xmlns:a16="http://schemas.microsoft.com/office/drawing/2014/main" id="{54C3F10B-8919-44F1-FFE4-FFF6D189FAED}"/>
                    </a:ext>
                  </a:extLst>
                </p:cNvPr>
                <p:cNvSpPr/>
                <p:nvPr/>
              </p:nvSpPr>
              <p:spPr>
                <a:xfrm>
                  <a:off x="606840" y="593541"/>
                  <a:ext cx="4736342" cy="2491182"/>
                </a:xfrm>
                <a:prstGeom prst="round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kumimoji="1" lang="ja-JP" altLang="en-US" sz="2800" b="1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標本</a:t>
                  </a:r>
                  <a:r>
                    <a:rPr kumimoji="1" lang="en-US" altLang="ja-JP" sz="2800" b="1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1</a:t>
                  </a:r>
                  <a:r>
                    <a:rPr kumimoji="1" lang="ja-JP" altLang="en-US" sz="28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（</a:t>
                  </a:r>
                  <a:r>
                    <a:rPr kumimoji="1" lang="en-US" altLang="ja-JP" sz="2800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n=10</a:t>
                  </a:r>
                  <a:r>
                    <a:rPr kumimoji="1" lang="ja-JP" altLang="en-US" sz="28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）</a:t>
                  </a:r>
                  <a:endParaRPr kumimoji="1" lang="en-US" altLang="ja-JP" sz="2800" dirty="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1" lang="en-US" altLang="ja-JP" sz="3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ja-JP" sz="3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kumimoji="1" lang="en-US" altLang="ja-JP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𝟏</m:t>
                            </m:r>
                          </m:sub>
                        </m:sSub>
                        <m:r>
                          <a:rPr kumimoji="1" lang="en-US" altLang="ja-JP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=20.6</m:t>
                        </m:r>
                      </m:oMath>
                    </m:oMathPara>
                  </a14:m>
                  <a:endParaRPr kumimoji="1" lang="en-US" altLang="ja-JP" sz="3600" dirty="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  <a:p>
                  <a:r>
                    <a:rPr lang="ja-JP" altLang="en-US" sz="28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この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4" panose="020B0400000000000000" pitchFamily="34" charset="-128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ja-JP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iragino Sans W4" panose="020B0400000000000000" pitchFamily="34" charset="-128"/>
                                </a:rPr>
                              </m:ctrlPr>
                            </m:accPr>
                            <m:e>
                              <m:r>
                                <a:rPr lang="en-US" altLang="ja-JP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iragino Sans W4" panose="020B0400000000000000" pitchFamily="34" charset="-128"/>
                                </a:rPr>
                                <m:t>𝜷</m:t>
                              </m:r>
                            </m:e>
                          </m:acc>
                        </m:e>
                        <m:sub>
                          <m:r>
                            <a:rPr lang="en-US" altLang="ja-JP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4" panose="020B0400000000000000" pitchFamily="34" charset="-128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kumimoji="1" lang="ja-JP" altLang="en-US" sz="28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は真の値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4" panose="020B0400000000000000" pitchFamily="34" charset="-128"/>
                            </a:rPr>
                          </m:ctrlPr>
                        </m:sSubPr>
                        <m:e>
                          <m:r>
                            <a:rPr lang="en-US" altLang="ja-JP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4" panose="020B0400000000000000" pitchFamily="34" charset="-128"/>
                            </a:rPr>
                            <m:t>𝜷</m:t>
                          </m:r>
                        </m:e>
                        <m:sub>
                          <m:r>
                            <a:rPr lang="en-US" altLang="ja-JP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4" panose="020B0400000000000000" pitchFamily="34" charset="-128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kumimoji="1" lang="ja-JP" altLang="en-US" sz="28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からかけ離れているかもしれない</a:t>
                  </a:r>
                  <a:r>
                    <a:rPr kumimoji="1" lang="en-US" altLang="ja-JP" sz="2800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…</a:t>
                  </a:r>
                  <a:r>
                    <a:rPr kumimoji="1" lang="ja-JP" altLang="en-US" sz="28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🤔</a:t>
                  </a:r>
                </a:p>
              </p:txBody>
            </p:sp>
          </mc:Choice>
          <mc:Fallback xmlns="">
            <p:sp>
              <p:nvSpPr>
                <p:cNvPr id="24" name="角丸四角形 23">
                  <a:extLst>
                    <a:ext uri="{FF2B5EF4-FFF2-40B4-BE49-F238E27FC236}">
                      <a16:creationId xmlns:a16="http://schemas.microsoft.com/office/drawing/2014/main" id="{54C3F10B-8919-44F1-FFE4-FFF6D189FA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840" y="593541"/>
                  <a:ext cx="4736342" cy="2491182"/>
                </a:xfrm>
                <a:prstGeom prst="roundRect">
                  <a:avLst/>
                </a:prstGeom>
                <a:blipFill>
                  <a:blip r:embed="rId4"/>
                  <a:stretch>
                    <a:fillRect b="-4000"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角丸四角形 25">
                  <a:extLst>
                    <a:ext uri="{FF2B5EF4-FFF2-40B4-BE49-F238E27FC236}">
                      <a16:creationId xmlns:a16="http://schemas.microsoft.com/office/drawing/2014/main" id="{3EE22B7E-3C32-EC99-AA2A-53AE13AFBDEF}"/>
                    </a:ext>
                  </a:extLst>
                </p:cNvPr>
                <p:cNvSpPr/>
                <p:nvPr/>
              </p:nvSpPr>
              <p:spPr>
                <a:xfrm>
                  <a:off x="606840" y="3773278"/>
                  <a:ext cx="4736342" cy="2491182"/>
                </a:xfrm>
                <a:prstGeom prst="round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kumimoji="1" lang="ja-JP" altLang="en-US" sz="2800" b="1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標本</a:t>
                  </a:r>
                  <a:r>
                    <a:rPr lang="en-US" altLang="ja-JP" sz="2800" b="1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2</a:t>
                  </a:r>
                  <a:r>
                    <a:rPr kumimoji="1" lang="ja-JP" altLang="en-US" sz="28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（</a:t>
                  </a:r>
                  <a:r>
                    <a:rPr kumimoji="1" lang="en-US" altLang="ja-JP" sz="2800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n=10,000</a:t>
                  </a:r>
                  <a:r>
                    <a:rPr kumimoji="1" lang="ja-JP" altLang="en-US" sz="28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）</a:t>
                  </a:r>
                  <a:endParaRPr kumimoji="1" lang="en-US" altLang="ja-JP" sz="2800" dirty="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1" lang="en-US" altLang="ja-JP" sz="3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ja-JP" sz="3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kumimoji="1" lang="en-US" altLang="ja-JP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𝟏</m:t>
                            </m:r>
                          </m:sub>
                        </m:sSub>
                        <m:r>
                          <a:rPr kumimoji="1" lang="en-US" altLang="ja-JP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=20.6</m:t>
                        </m:r>
                      </m:oMath>
                    </m:oMathPara>
                  </a14:m>
                  <a:endParaRPr kumimoji="1" lang="en-US" altLang="ja-JP" sz="3600" dirty="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  <a:p>
                  <a:r>
                    <a:rPr lang="ja-JP" altLang="en-US" sz="28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この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4" panose="020B0400000000000000" pitchFamily="34" charset="-128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ja-JP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iragino Sans W4" panose="020B0400000000000000" pitchFamily="34" charset="-128"/>
                                </a:rPr>
                              </m:ctrlPr>
                            </m:accPr>
                            <m:e>
                              <m:r>
                                <a:rPr lang="en-US" altLang="ja-JP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iragino Sans W4" panose="020B0400000000000000" pitchFamily="34" charset="-128"/>
                                </a:rPr>
                                <m:t>𝜷</m:t>
                              </m:r>
                            </m:e>
                          </m:acc>
                        </m:e>
                        <m:sub>
                          <m:r>
                            <a:rPr lang="en-US" altLang="ja-JP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4" panose="020B0400000000000000" pitchFamily="34" charset="-128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kumimoji="1" lang="ja-JP" altLang="en-US" sz="28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は真の値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4" panose="020B0400000000000000" pitchFamily="34" charset="-128"/>
                            </a:rPr>
                          </m:ctrlPr>
                        </m:sSubPr>
                        <m:e>
                          <m:r>
                            <a:rPr lang="en-US" altLang="ja-JP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4" panose="020B0400000000000000" pitchFamily="34" charset="-128"/>
                            </a:rPr>
                            <m:t>𝜷</m:t>
                          </m:r>
                        </m:e>
                        <m:sub>
                          <m:r>
                            <a:rPr lang="en-US" altLang="ja-JP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4" panose="020B0400000000000000" pitchFamily="34" charset="-128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kumimoji="1" lang="ja-JP" altLang="en-US" sz="28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にたぶんめっちゃ近い！🤗</a:t>
                  </a:r>
                </a:p>
              </p:txBody>
            </p:sp>
          </mc:Choice>
          <mc:Fallback xmlns="">
            <p:sp>
              <p:nvSpPr>
                <p:cNvPr id="26" name="角丸四角形 25">
                  <a:extLst>
                    <a:ext uri="{FF2B5EF4-FFF2-40B4-BE49-F238E27FC236}">
                      <a16:creationId xmlns:a16="http://schemas.microsoft.com/office/drawing/2014/main" id="{3EE22B7E-3C32-EC99-AA2A-53AE13AFBD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840" y="3773278"/>
                  <a:ext cx="4736342" cy="2491182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右矢印 27">
              <a:extLst>
                <a:ext uri="{FF2B5EF4-FFF2-40B4-BE49-F238E27FC236}">
                  <a16:creationId xmlns:a16="http://schemas.microsoft.com/office/drawing/2014/main" id="{9291BF36-D7D8-09C1-166C-CE12A4594F81}"/>
                </a:ext>
              </a:extLst>
            </p:cNvPr>
            <p:cNvSpPr/>
            <p:nvPr/>
          </p:nvSpPr>
          <p:spPr>
            <a:xfrm flipH="1">
              <a:off x="5780180" y="1187931"/>
              <a:ext cx="2592638" cy="1302401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右矢印 28">
              <a:extLst>
                <a:ext uri="{FF2B5EF4-FFF2-40B4-BE49-F238E27FC236}">
                  <a16:creationId xmlns:a16="http://schemas.microsoft.com/office/drawing/2014/main" id="{AAEEB71D-123E-03B0-B394-44AD9C31ABC6}"/>
                </a:ext>
              </a:extLst>
            </p:cNvPr>
            <p:cNvSpPr/>
            <p:nvPr/>
          </p:nvSpPr>
          <p:spPr>
            <a:xfrm flipH="1">
              <a:off x="5780180" y="4367669"/>
              <a:ext cx="2592638" cy="1302401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46A4A3A5-876C-03E3-752C-09649A0F77F9}"/>
                </a:ext>
              </a:extLst>
            </p:cNvPr>
            <p:cNvSpPr txBox="1"/>
            <p:nvPr/>
          </p:nvSpPr>
          <p:spPr>
            <a:xfrm>
              <a:off x="8921963" y="2074839"/>
              <a:ext cx="2487845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日本人が</a:t>
              </a:r>
              <a:r>
                <a:rPr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洋画を</a:t>
              </a:r>
              <a:r>
                <a:rPr lang="en-US" altLang="ja-JP" sz="24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1</a:t>
              </a:r>
              <a:r>
                <a:rPr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時間／週見ると</a:t>
              </a:r>
              <a:r>
                <a:rPr lang="en-US" altLang="ja-JP" sz="24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TOEIC</a:t>
              </a:r>
              <a:r>
                <a:rPr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の点数は何点上がるか</a:t>
              </a:r>
              <a:endParaRPr lang="ja-JP" alt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3382139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FC599CBB-8E88-7AA1-028F-0F598AD4C73D}"/>
              </a:ext>
            </a:extLst>
          </p:cNvPr>
          <p:cNvGrpSpPr/>
          <p:nvPr/>
        </p:nvGrpSpPr>
        <p:grpSpPr>
          <a:xfrm>
            <a:off x="166645" y="109041"/>
            <a:ext cx="12109838" cy="6748959"/>
            <a:chOff x="315311" y="109041"/>
            <a:chExt cx="12109838" cy="6748959"/>
          </a:xfrm>
        </p:grpSpPr>
        <p:sp>
          <p:nvSpPr>
            <p:cNvPr id="2" name="角丸四角形 1">
              <a:extLst>
                <a:ext uri="{FF2B5EF4-FFF2-40B4-BE49-F238E27FC236}">
                  <a16:creationId xmlns:a16="http://schemas.microsoft.com/office/drawing/2014/main" id="{96300DE6-E9A5-764C-C23F-87E69D8A3F7E}"/>
                </a:ext>
              </a:extLst>
            </p:cNvPr>
            <p:cNvSpPr/>
            <p:nvPr/>
          </p:nvSpPr>
          <p:spPr>
            <a:xfrm>
              <a:off x="9693643" y="492957"/>
              <a:ext cx="2400170" cy="5670919"/>
            </a:xfrm>
            <a:prstGeom prst="round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411B0805-A0E6-136B-9EFF-4B95774C3ED3}"/>
                </a:ext>
              </a:extLst>
            </p:cNvPr>
            <p:cNvSpPr txBox="1"/>
            <p:nvPr/>
          </p:nvSpPr>
          <p:spPr>
            <a:xfrm>
              <a:off x="9537658" y="1251813"/>
              <a:ext cx="28874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母集団</a:t>
              </a:r>
              <a:endParaRPr kumimoji="1" lang="ja-JP" altLang="en-US" b="1"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C5E73E36-7ACA-20A4-9E94-C62AD883CE9C}"/>
                    </a:ext>
                  </a:extLst>
                </p:cNvPr>
                <p:cNvSpPr txBox="1"/>
                <p:nvPr/>
              </p:nvSpPr>
              <p:spPr>
                <a:xfrm>
                  <a:off x="9781320" y="2970140"/>
                  <a:ext cx="2400169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ja-JP" altLang="en-US" sz="2800" b="1">
                      <a:latin typeface="Cambria Math" panose="02040503050406030204" pitchFamily="18" charset="0"/>
                      <a:ea typeface="Hiragino Sans W4" panose="020B0400000000000000" pitchFamily="34" charset="-128"/>
                    </a:rPr>
                    <a:t>真の傾き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3200" b="1" i="1" smtClean="0">
                              <a:latin typeface="Cambria Math" panose="02040503050406030204" pitchFamily="18" charset="0"/>
                              <a:ea typeface="Hiragino Sans W4" panose="020B0400000000000000" pitchFamily="34" charset="-128"/>
                            </a:rPr>
                          </m:ctrlPr>
                        </m:sSubPr>
                        <m:e>
                          <m:r>
                            <a:rPr lang="en-US" altLang="ja-JP" sz="3200" b="1" i="1" smtClean="0">
                              <a:latin typeface="Cambria Math" panose="02040503050406030204" pitchFamily="18" charset="0"/>
                              <a:ea typeface="Hiragino Sans W4" panose="020B0400000000000000" pitchFamily="34" charset="-128"/>
                            </a:rPr>
                            <m:t>𝜷</m:t>
                          </m:r>
                        </m:e>
                        <m:sub>
                          <m:r>
                            <a:rPr lang="en-US" altLang="ja-JP" sz="3200" b="1" i="1" smtClean="0">
                              <a:latin typeface="Cambria Math" panose="02040503050406030204" pitchFamily="18" charset="0"/>
                              <a:ea typeface="Hiragino Sans W4" panose="020B0400000000000000" pitchFamily="34" charset="-128"/>
                            </a:rPr>
                            <m:t>𝟏</m:t>
                          </m:r>
                        </m:sub>
                      </m:sSub>
                    </m:oMath>
                  </a14:m>
                  <a:endParaRPr kumimoji="1" lang="en-US" altLang="ja-JP" sz="2800" b="1" dirty="0">
                    <a:latin typeface="Cambria Math" panose="02040503050406030204" pitchFamily="18" charset="0"/>
                    <a:ea typeface="Hiragino Sans W4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C5E73E36-7ACA-20A4-9E94-C62AD883CE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1320" y="2970140"/>
                  <a:ext cx="2400169" cy="584775"/>
                </a:xfrm>
                <a:prstGeom prst="rect">
                  <a:avLst/>
                </a:prstGeom>
                <a:blipFill>
                  <a:blip r:embed="rId2"/>
                  <a:stretch>
                    <a:fillRect t="-4255" b="-2340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角丸四角形 4">
                  <a:extLst>
                    <a:ext uri="{FF2B5EF4-FFF2-40B4-BE49-F238E27FC236}">
                      <a16:creationId xmlns:a16="http://schemas.microsoft.com/office/drawing/2014/main" id="{AEED4403-5C78-3E7B-24D8-F15D4AC99238}"/>
                    </a:ext>
                  </a:extLst>
                </p:cNvPr>
                <p:cNvSpPr/>
                <p:nvPr/>
              </p:nvSpPr>
              <p:spPr>
                <a:xfrm>
                  <a:off x="5740294" y="109041"/>
                  <a:ext cx="2530884" cy="869022"/>
                </a:xfrm>
                <a:prstGeom prst="round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kumimoji="1" lang="ja-JP" altLang="en-US" sz="2400" b="1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標本</a:t>
                  </a:r>
                  <a:r>
                    <a:rPr kumimoji="1" lang="en-US" altLang="ja-JP" sz="2400" b="1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1</a:t>
                  </a:r>
                  <a:r>
                    <a:rPr kumimoji="1" lang="ja-JP" altLang="en-US" sz="2400" b="1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：</a:t>
                  </a:r>
                  <a:endParaRPr kumimoji="1" lang="en-US" altLang="ja-JP" sz="2400" b="1" dirty="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1" lang="en-US" altLang="ja-JP" sz="3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ja-JP" sz="3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kumimoji="1" lang="en-US" altLang="ja-JP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𝟏</m:t>
                            </m:r>
                          </m:sub>
                        </m:sSub>
                        <m:r>
                          <a:rPr lang="en-US" altLang="ja-JP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=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𝟏𝟖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.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𝟔</m:t>
                        </m:r>
                      </m:oMath>
                    </m:oMathPara>
                  </a14:m>
                  <a:endPara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5" name="角丸四角形 4">
                  <a:extLst>
                    <a:ext uri="{FF2B5EF4-FFF2-40B4-BE49-F238E27FC236}">
                      <a16:creationId xmlns:a16="http://schemas.microsoft.com/office/drawing/2014/main" id="{AEED4403-5C78-3E7B-24D8-F15D4AC992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0294" y="109041"/>
                  <a:ext cx="2530884" cy="869022"/>
                </a:xfrm>
                <a:prstGeom prst="roundRect">
                  <a:avLst/>
                </a:prstGeom>
                <a:blipFill>
                  <a:blip r:embed="rId3"/>
                  <a:stretch>
                    <a:fillRect l="-985" t="-9722" b="-18056"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角丸四角形 5">
                  <a:extLst>
                    <a:ext uri="{FF2B5EF4-FFF2-40B4-BE49-F238E27FC236}">
                      <a16:creationId xmlns:a16="http://schemas.microsoft.com/office/drawing/2014/main" id="{A467D7E6-2939-B281-A240-E39C85E99B8A}"/>
                    </a:ext>
                  </a:extLst>
                </p:cNvPr>
                <p:cNvSpPr/>
                <p:nvPr/>
              </p:nvSpPr>
              <p:spPr>
                <a:xfrm>
                  <a:off x="5740293" y="1183247"/>
                  <a:ext cx="2530884" cy="869022"/>
                </a:xfrm>
                <a:prstGeom prst="round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kumimoji="1" lang="ja-JP" altLang="en-US" sz="2400" b="1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標本</a:t>
                  </a:r>
                  <a:r>
                    <a:rPr lang="en-US" altLang="ja-JP" sz="2400" b="1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2</a:t>
                  </a:r>
                  <a:r>
                    <a:rPr kumimoji="1" lang="ja-JP" altLang="en-US" sz="24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：</a:t>
                  </a:r>
                  <a:endParaRPr kumimoji="1" lang="en-US" altLang="ja-JP" sz="2400" dirty="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ja-JP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𝟏</m:t>
                            </m:r>
                          </m:sub>
                        </m:sSub>
                        <m:r>
                          <a:rPr lang="en-US" altLang="ja-JP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=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𝟐𝟎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.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𝟒</m:t>
                        </m:r>
                      </m:oMath>
                    </m:oMathPara>
                  </a14:m>
                  <a:endPara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6" name="角丸四角形 5">
                  <a:extLst>
                    <a:ext uri="{FF2B5EF4-FFF2-40B4-BE49-F238E27FC236}">
                      <a16:creationId xmlns:a16="http://schemas.microsoft.com/office/drawing/2014/main" id="{A467D7E6-2939-B281-A240-E39C85E99B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0293" y="1183247"/>
                  <a:ext cx="2530884" cy="869022"/>
                </a:xfrm>
                <a:prstGeom prst="roundRect">
                  <a:avLst/>
                </a:prstGeom>
                <a:blipFill>
                  <a:blip r:embed="rId4"/>
                  <a:stretch>
                    <a:fillRect l="-985" t="-8219" b="-17808"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角丸四角形 6">
                  <a:extLst>
                    <a:ext uri="{FF2B5EF4-FFF2-40B4-BE49-F238E27FC236}">
                      <a16:creationId xmlns:a16="http://schemas.microsoft.com/office/drawing/2014/main" id="{321BE857-A692-FEBD-B80B-B63D2B356A0A}"/>
                    </a:ext>
                  </a:extLst>
                </p:cNvPr>
                <p:cNvSpPr/>
                <p:nvPr/>
              </p:nvSpPr>
              <p:spPr>
                <a:xfrm>
                  <a:off x="5729279" y="2257453"/>
                  <a:ext cx="2530884" cy="869022"/>
                </a:xfrm>
                <a:prstGeom prst="round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kumimoji="1" lang="ja-JP" altLang="en-US" sz="2400" b="1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標本</a:t>
                  </a:r>
                  <a:r>
                    <a:rPr kumimoji="1" lang="en-US" altLang="ja-JP" sz="2400" b="1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3</a:t>
                  </a:r>
                  <a:r>
                    <a:rPr kumimoji="1" lang="ja-JP" altLang="en-US" sz="24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：</a:t>
                  </a:r>
                  <a:endParaRPr kumimoji="1" lang="en-US" altLang="ja-JP" sz="2400" dirty="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ja-JP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𝟏</m:t>
                            </m:r>
                          </m:sub>
                        </m:sSub>
                        <m:r>
                          <a:rPr lang="en-US" altLang="ja-JP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=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𝟏𝟕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.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𝟖</m:t>
                        </m:r>
                      </m:oMath>
                    </m:oMathPara>
                  </a14:m>
                  <a:endPara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7" name="角丸四角形 6">
                  <a:extLst>
                    <a:ext uri="{FF2B5EF4-FFF2-40B4-BE49-F238E27FC236}">
                      <a16:creationId xmlns:a16="http://schemas.microsoft.com/office/drawing/2014/main" id="{321BE857-A692-FEBD-B80B-B63D2B356A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9279" y="2257453"/>
                  <a:ext cx="2530884" cy="869022"/>
                </a:xfrm>
                <a:prstGeom prst="roundRect">
                  <a:avLst/>
                </a:prstGeom>
                <a:blipFill>
                  <a:blip r:embed="rId5"/>
                  <a:stretch>
                    <a:fillRect l="-980" t="-9722" b="-19444"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角丸四角形 7">
                  <a:extLst>
                    <a:ext uri="{FF2B5EF4-FFF2-40B4-BE49-F238E27FC236}">
                      <a16:creationId xmlns:a16="http://schemas.microsoft.com/office/drawing/2014/main" id="{03B37D11-16AE-00D4-1C05-9E93A8C52CD9}"/>
                    </a:ext>
                  </a:extLst>
                </p:cNvPr>
                <p:cNvSpPr/>
                <p:nvPr/>
              </p:nvSpPr>
              <p:spPr>
                <a:xfrm>
                  <a:off x="5729279" y="3328416"/>
                  <a:ext cx="2530884" cy="985655"/>
                </a:xfrm>
                <a:prstGeom prst="round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kumimoji="1" lang="ja-JP" altLang="en-US" sz="2400" b="1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標本</a:t>
                  </a:r>
                  <a:r>
                    <a:rPr kumimoji="1" lang="en-US" altLang="ja-JP" sz="2400" b="1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4</a:t>
                  </a:r>
                  <a:r>
                    <a:rPr kumimoji="1" lang="ja-JP" altLang="en-US" sz="24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：</a:t>
                  </a:r>
                  <a:endParaRPr kumimoji="1" lang="en-US" altLang="ja-JP" sz="2400" dirty="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ja-JP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𝟏</m:t>
                            </m:r>
                          </m:sub>
                        </m:sSub>
                        <m:r>
                          <a:rPr lang="en-US" altLang="ja-JP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=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𝟐𝟐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.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𝟑</m:t>
                        </m:r>
                      </m:oMath>
                    </m:oMathPara>
                  </a14:m>
                  <a:endPara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8" name="角丸四角形 7">
                  <a:extLst>
                    <a:ext uri="{FF2B5EF4-FFF2-40B4-BE49-F238E27FC236}">
                      <a16:creationId xmlns:a16="http://schemas.microsoft.com/office/drawing/2014/main" id="{03B37D11-16AE-00D4-1C05-9E93A8C52C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9279" y="3328416"/>
                  <a:ext cx="2530884" cy="985655"/>
                </a:xfrm>
                <a:prstGeom prst="roundRect">
                  <a:avLst/>
                </a:prstGeom>
                <a:blipFill>
                  <a:blip r:embed="rId6"/>
                  <a:stretch>
                    <a:fillRect l="-980" t="-2439" b="-9756"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角丸四角形 8">
                  <a:extLst>
                    <a:ext uri="{FF2B5EF4-FFF2-40B4-BE49-F238E27FC236}">
                      <a16:creationId xmlns:a16="http://schemas.microsoft.com/office/drawing/2014/main" id="{4E50A498-74FB-0D50-967E-E6BB55F915DC}"/>
                    </a:ext>
                  </a:extLst>
                </p:cNvPr>
                <p:cNvSpPr/>
                <p:nvPr/>
              </p:nvSpPr>
              <p:spPr>
                <a:xfrm>
                  <a:off x="5740293" y="4516012"/>
                  <a:ext cx="2530884" cy="985655"/>
                </a:xfrm>
                <a:prstGeom prst="round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kumimoji="1" lang="ja-JP" altLang="en-US" sz="2400" b="1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標本</a:t>
                  </a:r>
                  <a:r>
                    <a:rPr lang="en-US" altLang="ja-JP" sz="2400" b="1" dirty="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5</a:t>
                  </a:r>
                  <a:r>
                    <a:rPr kumimoji="1" lang="ja-JP" altLang="en-US" sz="2400">
                      <a:solidFill>
                        <a:schemeClr val="tx1"/>
                      </a:solidFill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：</a:t>
                  </a:r>
                  <a:endParaRPr kumimoji="1" lang="en-US" altLang="ja-JP" sz="2400" dirty="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ja-JP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iragino Sans W4" panose="020B0400000000000000" pitchFamily="34" charset="-128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iragino Sans W4" panose="020B0400000000000000" pitchFamily="34" charset="-128"/>
                              </a:rPr>
                              <m:t>𝟏</m:t>
                            </m:r>
                          </m:sub>
                        </m:sSub>
                        <m:r>
                          <a:rPr lang="en-US" altLang="ja-JP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=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𝟏𝟗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.</m:t>
                        </m:r>
                        <m:r>
                          <a:rPr lang="en-US" altLang="ja-JP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4" panose="020B0400000000000000" pitchFamily="34" charset="-128"/>
                          </a:rPr>
                          <m:t>𝟕</m:t>
                        </m:r>
                      </m:oMath>
                    </m:oMathPara>
                  </a14:m>
                  <a:endPara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9" name="角丸四角形 8">
                  <a:extLst>
                    <a:ext uri="{FF2B5EF4-FFF2-40B4-BE49-F238E27FC236}">
                      <a16:creationId xmlns:a16="http://schemas.microsoft.com/office/drawing/2014/main" id="{4E50A498-74FB-0D50-967E-E6BB55F915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0293" y="4516012"/>
                  <a:ext cx="2530884" cy="985655"/>
                </a:xfrm>
                <a:prstGeom prst="roundRect">
                  <a:avLst/>
                </a:prstGeom>
                <a:blipFill>
                  <a:blip r:embed="rId7"/>
                  <a:stretch>
                    <a:fillRect l="-985" t="-2469" b="-11111"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1D0D3F99-1CDC-F34E-B815-DACC09C73F68}"/>
                </a:ext>
              </a:extLst>
            </p:cNvPr>
            <p:cNvSpPr txBox="1"/>
            <p:nvPr/>
          </p:nvSpPr>
          <p:spPr>
            <a:xfrm rot="5400000">
              <a:off x="6559939" y="5715373"/>
              <a:ext cx="89159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5400" b="1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…</a:t>
              </a:r>
              <a:endParaRPr kumimoji="1" lang="ja-JP" altLang="en-US" sz="5400" b="1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1" name="右矢印 10">
              <a:extLst>
                <a:ext uri="{FF2B5EF4-FFF2-40B4-BE49-F238E27FC236}">
                  <a16:creationId xmlns:a16="http://schemas.microsoft.com/office/drawing/2014/main" id="{93662BA1-9A30-6761-CDA3-8BFFC013166A}"/>
                </a:ext>
              </a:extLst>
            </p:cNvPr>
            <p:cNvSpPr/>
            <p:nvPr/>
          </p:nvSpPr>
          <p:spPr>
            <a:xfrm flipH="1">
              <a:off x="8420821" y="265376"/>
              <a:ext cx="1029161" cy="55635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右矢印 11">
              <a:extLst>
                <a:ext uri="{FF2B5EF4-FFF2-40B4-BE49-F238E27FC236}">
                  <a16:creationId xmlns:a16="http://schemas.microsoft.com/office/drawing/2014/main" id="{AACC7D4B-45B8-4311-D9F9-33E134088B8F}"/>
                </a:ext>
              </a:extLst>
            </p:cNvPr>
            <p:cNvSpPr/>
            <p:nvPr/>
          </p:nvSpPr>
          <p:spPr>
            <a:xfrm flipH="1">
              <a:off x="8420821" y="1339582"/>
              <a:ext cx="1029161" cy="55635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右矢印 12">
              <a:extLst>
                <a:ext uri="{FF2B5EF4-FFF2-40B4-BE49-F238E27FC236}">
                  <a16:creationId xmlns:a16="http://schemas.microsoft.com/office/drawing/2014/main" id="{34BD1457-3A67-DF3E-82A4-63F03FDD8FFA}"/>
                </a:ext>
              </a:extLst>
            </p:cNvPr>
            <p:cNvSpPr/>
            <p:nvPr/>
          </p:nvSpPr>
          <p:spPr>
            <a:xfrm flipH="1">
              <a:off x="8398332" y="2413788"/>
              <a:ext cx="1029161" cy="55635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右矢印 13">
              <a:extLst>
                <a:ext uri="{FF2B5EF4-FFF2-40B4-BE49-F238E27FC236}">
                  <a16:creationId xmlns:a16="http://schemas.microsoft.com/office/drawing/2014/main" id="{768854E4-A771-0757-7080-6FD7225155E4}"/>
                </a:ext>
              </a:extLst>
            </p:cNvPr>
            <p:cNvSpPr/>
            <p:nvPr/>
          </p:nvSpPr>
          <p:spPr>
            <a:xfrm flipH="1">
              <a:off x="8420821" y="3529123"/>
              <a:ext cx="1029161" cy="55635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右矢印 14">
              <a:extLst>
                <a:ext uri="{FF2B5EF4-FFF2-40B4-BE49-F238E27FC236}">
                  <a16:creationId xmlns:a16="http://schemas.microsoft.com/office/drawing/2014/main" id="{D9EA1BF9-FFFA-1561-6BC3-861F8ECE5BC8}"/>
                </a:ext>
              </a:extLst>
            </p:cNvPr>
            <p:cNvSpPr/>
            <p:nvPr/>
          </p:nvSpPr>
          <p:spPr>
            <a:xfrm flipH="1">
              <a:off x="8420820" y="4730663"/>
              <a:ext cx="1029161" cy="55635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左中かっこ 15">
              <a:extLst>
                <a:ext uri="{FF2B5EF4-FFF2-40B4-BE49-F238E27FC236}">
                  <a16:creationId xmlns:a16="http://schemas.microsoft.com/office/drawing/2014/main" id="{10865E95-D4DB-1D93-5753-95758B93D8FD}"/>
                </a:ext>
              </a:extLst>
            </p:cNvPr>
            <p:cNvSpPr/>
            <p:nvPr/>
          </p:nvSpPr>
          <p:spPr>
            <a:xfrm>
              <a:off x="4958829" y="344208"/>
              <a:ext cx="627961" cy="6513792"/>
            </a:xfrm>
            <a:prstGeom prst="leftBrace">
              <a:avLst>
                <a:gd name="adj1" fmla="val 59649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66FBF9E2-C460-66CB-A3B3-B6B974938839}"/>
                </a:ext>
              </a:extLst>
            </p:cNvPr>
            <p:cNvCxnSpPr>
              <a:cxnSpLocks/>
            </p:cNvCxnSpPr>
            <p:nvPr/>
          </p:nvCxnSpPr>
          <p:spPr>
            <a:xfrm>
              <a:off x="315311" y="5459439"/>
              <a:ext cx="4361792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フリーフォーム 34">
              <a:extLst>
                <a:ext uri="{FF2B5EF4-FFF2-40B4-BE49-F238E27FC236}">
                  <a16:creationId xmlns:a16="http://schemas.microsoft.com/office/drawing/2014/main" id="{F47D5721-9C0F-EAD2-6B00-4C19B8066F24}"/>
                </a:ext>
              </a:extLst>
            </p:cNvPr>
            <p:cNvSpPr/>
            <p:nvPr/>
          </p:nvSpPr>
          <p:spPr>
            <a:xfrm>
              <a:off x="315311" y="1339582"/>
              <a:ext cx="4361792" cy="3558239"/>
            </a:xfrm>
            <a:custGeom>
              <a:avLst/>
              <a:gdLst>
                <a:gd name="csX0" fmla="*/ 0 w 5801711"/>
                <a:gd name="csY0" fmla="*/ 3615559 h 3615559"/>
                <a:gd name="csX1" fmla="*/ 1460938 w 5801711"/>
                <a:gd name="csY1" fmla="*/ 2879835 h 3615559"/>
                <a:gd name="csX2" fmla="*/ 2175642 w 5801711"/>
                <a:gd name="csY2" fmla="*/ 725214 h 3615559"/>
                <a:gd name="csX3" fmla="*/ 2911366 w 5801711"/>
                <a:gd name="csY3" fmla="*/ 0 h 3615559"/>
                <a:gd name="csX4" fmla="*/ 3636580 w 5801711"/>
                <a:gd name="csY4" fmla="*/ 725214 h 3615559"/>
                <a:gd name="csX5" fmla="*/ 4330262 w 5801711"/>
                <a:gd name="csY5" fmla="*/ 2890345 h 3615559"/>
                <a:gd name="csX6" fmla="*/ 5801711 w 5801711"/>
                <a:gd name="csY6" fmla="*/ 3594538 h 36155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801711" h="3615559">
                  <a:moveTo>
                    <a:pt x="0" y="3615559"/>
                  </a:moveTo>
                  <a:cubicBezTo>
                    <a:pt x="549165" y="3488559"/>
                    <a:pt x="1098331" y="3361559"/>
                    <a:pt x="1460938" y="2879835"/>
                  </a:cubicBezTo>
                  <a:cubicBezTo>
                    <a:pt x="1823545" y="2398111"/>
                    <a:pt x="1933904" y="1205186"/>
                    <a:pt x="2175642" y="725214"/>
                  </a:cubicBezTo>
                  <a:cubicBezTo>
                    <a:pt x="2417380" y="245242"/>
                    <a:pt x="2667876" y="0"/>
                    <a:pt x="2911366" y="0"/>
                  </a:cubicBezTo>
                  <a:cubicBezTo>
                    <a:pt x="3154856" y="0"/>
                    <a:pt x="3400097" y="243490"/>
                    <a:pt x="3636580" y="725214"/>
                  </a:cubicBezTo>
                  <a:cubicBezTo>
                    <a:pt x="3873063" y="1206938"/>
                    <a:pt x="3969407" y="2412124"/>
                    <a:pt x="4330262" y="2890345"/>
                  </a:cubicBezTo>
                  <a:cubicBezTo>
                    <a:pt x="4691117" y="3368566"/>
                    <a:pt x="5246414" y="3481552"/>
                    <a:pt x="5801711" y="3594538"/>
                  </a:cubicBezTo>
                </a:path>
              </a:pathLst>
            </a:cu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29BD59F7-A784-FBB1-8EDC-D3DE3F5297A0}"/>
                    </a:ext>
                  </a:extLst>
                </p:cNvPr>
                <p:cNvSpPr txBox="1"/>
                <p:nvPr/>
              </p:nvSpPr>
              <p:spPr>
                <a:xfrm>
                  <a:off x="577667" y="124580"/>
                  <a:ext cx="3852884" cy="611386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4" panose="020B0400000000000000" pitchFamily="34" charset="-128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ja-JP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iragino Sans W4" panose="020B0400000000000000" pitchFamily="34" charset="-128"/>
                                </a:rPr>
                              </m:ctrlPr>
                            </m:accPr>
                            <m:e>
                              <m:r>
                                <a:rPr kumimoji="1" lang="en-US" altLang="ja-JP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iragino Sans W4" panose="020B0400000000000000" pitchFamily="34" charset="-128"/>
                                </a:rPr>
                                <m:t>𝜷</m:t>
                              </m:r>
                            </m:e>
                          </m:acc>
                        </m:e>
                        <m:sub>
                          <m:r>
                            <a:rPr kumimoji="1" lang="en-US" altLang="ja-JP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iragino Sans W4" panose="020B0400000000000000" pitchFamily="34" charset="-128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ja-JP" altLang="en-US" sz="3200" b="1"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の分布</a:t>
                  </a:r>
                  <a:r>
                    <a:rPr lang="en-US" altLang="ja-JP" sz="3200" b="1" dirty="0"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=</a:t>
                  </a:r>
                  <a:r>
                    <a:rPr lang="ja-JP" altLang="en-US" sz="3200" b="1">
                      <a:latin typeface="Hiragino Sans W4" panose="020B0400000000000000" pitchFamily="34" charset="-128"/>
                      <a:ea typeface="Hiragino Sans W4" panose="020B0400000000000000" pitchFamily="34" charset="-128"/>
                    </a:rPr>
                    <a:t>正規分布</a:t>
                  </a:r>
                  <a:endParaRPr lang="en-US" altLang="ja-JP" sz="3200" b="1" dirty="0">
                    <a:latin typeface="Hiragino Sans W4" panose="020B0400000000000000" pitchFamily="34" charset="-128"/>
                    <a:ea typeface="Hiragino Sans W4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29BD59F7-A784-FBB1-8EDC-D3DE3F529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667" y="124580"/>
                  <a:ext cx="3852884" cy="611386"/>
                </a:xfrm>
                <a:prstGeom prst="rect">
                  <a:avLst/>
                </a:prstGeom>
                <a:blipFill>
                  <a:blip r:embed="rId8"/>
                  <a:stretch>
                    <a:fillRect l="-1967" t="-8000" r="-3607" b="-28000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C2177D59-ECCD-CECA-8938-896B4148A55B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>
              <a:off x="2504109" y="1339582"/>
              <a:ext cx="0" cy="411985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315BD5F7-0105-EC93-6404-A826759858A9}"/>
                </a:ext>
              </a:extLst>
            </p:cNvPr>
            <p:cNvSpPr txBox="1"/>
            <p:nvPr/>
          </p:nvSpPr>
          <p:spPr>
            <a:xfrm>
              <a:off x="1789582" y="5579101"/>
              <a:ext cx="1429054" cy="52322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28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平均</a:t>
              </a:r>
            </a:p>
          </p:txBody>
        </p:sp>
        <p:sp>
          <p:nvSpPr>
            <p:cNvPr id="44" name="左右矢印 43">
              <a:extLst>
                <a:ext uri="{FF2B5EF4-FFF2-40B4-BE49-F238E27FC236}">
                  <a16:creationId xmlns:a16="http://schemas.microsoft.com/office/drawing/2014/main" id="{4A7A76C0-F1FA-90B9-55A0-95420C4CFB03}"/>
                </a:ext>
              </a:extLst>
            </p:cNvPr>
            <p:cNvSpPr/>
            <p:nvPr/>
          </p:nvSpPr>
          <p:spPr>
            <a:xfrm>
              <a:off x="2572470" y="953493"/>
              <a:ext cx="2119992" cy="283780"/>
            </a:xfrm>
            <a:prstGeom prst="left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B82CD029-1917-72DA-526B-829545424013}"/>
                </a:ext>
              </a:extLst>
            </p:cNvPr>
            <p:cNvSpPr txBox="1"/>
            <p:nvPr/>
          </p:nvSpPr>
          <p:spPr>
            <a:xfrm>
              <a:off x="2883892" y="1237273"/>
              <a:ext cx="2612734" cy="52322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>
              <a:spAutoFit/>
            </a:bodyPr>
            <a:lstStyle/>
            <a:p>
              <a:r>
                <a:rPr lang="ja-JP" altLang="en-US" sz="28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分散</a:t>
              </a:r>
              <a:r>
                <a:rPr lang="ja-JP" altLang="en-US" sz="20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（標準誤差）</a:t>
              </a:r>
              <a:endParaRPr lang="ja-JP" altLang="en-US" sz="2800" b="1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9887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1660</TotalTime>
  <Words>524</Words>
  <Application>Microsoft Macintosh PowerPoint</Application>
  <PresentationFormat>ワイド画面</PresentationFormat>
  <Paragraphs>129</Paragraphs>
  <Slides>11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9" baseType="lpstr">
      <vt:lpstr>HGPSoeiKakugothicUB</vt:lpstr>
      <vt:lpstr>Hiragino Sans W4</vt:lpstr>
      <vt:lpstr>Hiragino Sans W8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鈴木　淳平</dc:creator>
  <cp:lastModifiedBy>SUZUKI JUNPEI</cp:lastModifiedBy>
  <cp:revision>16</cp:revision>
  <dcterms:created xsi:type="dcterms:W3CDTF">2026-01-12T09:29:13Z</dcterms:created>
  <dcterms:modified xsi:type="dcterms:W3CDTF">2026-10-20T03:39:03Z</dcterms:modified>
</cp:coreProperties>
</file>