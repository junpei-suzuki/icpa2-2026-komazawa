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658"/>
  </p:normalViewPr>
  <p:slideViewPr>
    <p:cSldViewPr snapToGrid="0">
      <p:cViewPr varScale="1">
        <p:scale>
          <a:sx n="116" d="100"/>
          <a:sy n="116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8D67A2-3998-1741-A572-96ADB5DE7BBF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04B04-4CEB-2647-96CF-6A0625877C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3697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668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7020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259F-8B7C-2ABF-1968-5A42C91C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DE7E5F2C-E691-773E-06E4-D71652F17505}"/>
              </a:ext>
            </a:extLst>
          </p:cNvPr>
          <p:cNvGrpSpPr/>
          <p:nvPr/>
        </p:nvGrpSpPr>
        <p:grpSpPr>
          <a:xfrm>
            <a:off x="901018" y="177138"/>
            <a:ext cx="10389963" cy="6474105"/>
            <a:chOff x="901018" y="177138"/>
            <a:chExt cx="10389963" cy="6474105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73F9D6-3573-8349-11F8-D238E3410545}"/>
                </a:ext>
              </a:extLst>
            </p:cNvPr>
            <p:cNvSpPr/>
            <p:nvPr/>
          </p:nvSpPr>
          <p:spPr>
            <a:xfrm>
              <a:off x="8907051" y="256766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データ収集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クリーニング</a:t>
              </a: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C12C8E2C-FE3B-1421-F1DD-680CE3C8EB7E}"/>
                </a:ext>
              </a:extLst>
            </p:cNvPr>
            <p:cNvSpPr/>
            <p:nvPr/>
          </p:nvSpPr>
          <p:spPr>
            <a:xfrm>
              <a:off x="901018" y="408776"/>
              <a:ext cx="10389963" cy="4757470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02245C02-021F-E2A1-C2BA-76E834FF1463}"/>
                </a:ext>
              </a:extLst>
            </p:cNvPr>
            <p:cNvSpPr/>
            <p:nvPr/>
          </p:nvSpPr>
          <p:spPr>
            <a:xfrm>
              <a:off x="1371945" y="1108191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122E0623-BD52-1DA8-2D75-17869CE9C720}"/>
                </a:ext>
              </a:extLst>
            </p:cNvPr>
            <p:cNvSpPr/>
            <p:nvPr/>
          </p:nvSpPr>
          <p:spPr>
            <a:xfrm>
              <a:off x="3930720" y="11081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言語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基本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F2740DF5-6B08-0EE4-C2FD-CBD05E66E6A9}"/>
                </a:ext>
              </a:extLst>
            </p:cNvPr>
            <p:cNvSpPr/>
            <p:nvPr/>
          </p:nvSpPr>
          <p:spPr>
            <a:xfrm>
              <a:off x="1371942" y="208365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因果効果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A63CD7BD-3DEE-7BA6-797C-3289CAC18CC6}"/>
                </a:ext>
              </a:extLst>
            </p:cNvPr>
            <p:cNvSpPr/>
            <p:nvPr/>
          </p:nvSpPr>
          <p:spPr>
            <a:xfrm>
              <a:off x="3930719" y="208760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推測統計学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社会調査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4A2D2B86-5E06-7468-1BEB-259E77F9D2B2}"/>
                </a:ext>
              </a:extLst>
            </p:cNvPr>
            <p:cNvSpPr/>
            <p:nvPr/>
          </p:nvSpPr>
          <p:spPr>
            <a:xfrm>
              <a:off x="1371943" y="30881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2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変数間関係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387CDC0-55D7-767C-9BA3-D1FF306F5D93}"/>
                </a:ext>
              </a:extLst>
            </p:cNvPr>
            <p:cNvSpPr/>
            <p:nvPr/>
          </p:nvSpPr>
          <p:spPr>
            <a:xfrm>
              <a:off x="3930720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B0415CD-DF36-AEB6-2914-D6E7EBFB458E}"/>
                </a:ext>
              </a:extLst>
            </p:cNvPr>
            <p:cNvSpPr/>
            <p:nvPr/>
          </p:nvSpPr>
          <p:spPr>
            <a:xfrm>
              <a:off x="1371941" y="408721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重回帰分析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416C86-6453-AECB-CCCC-BE547478BB76}"/>
                </a:ext>
              </a:extLst>
            </p:cNvPr>
            <p:cNvSpPr/>
            <p:nvPr/>
          </p:nvSpPr>
          <p:spPr>
            <a:xfrm>
              <a:off x="6506310" y="110742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確率論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基礎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BADF2F87-8276-AC23-BF56-3D5A64AE2277}"/>
                </a:ext>
              </a:extLst>
            </p:cNvPr>
            <p:cNvSpPr/>
            <p:nvPr/>
          </p:nvSpPr>
          <p:spPr>
            <a:xfrm>
              <a:off x="6506309" y="209780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不確実性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信頼区間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CED0252-5E26-C3CF-957F-646644749E93}"/>
                </a:ext>
              </a:extLst>
            </p:cNvPr>
            <p:cNvSpPr/>
            <p:nvPr/>
          </p:nvSpPr>
          <p:spPr>
            <a:xfrm>
              <a:off x="6506308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統計的仮説検定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85904540-F911-1134-F970-E9C47A8A3F81}"/>
                </a:ext>
              </a:extLst>
            </p:cNvPr>
            <p:cNvSpPr/>
            <p:nvPr/>
          </p:nvSpPr>
          <p:spPr>
            <a:xfrm>
              <a:off x="8907051" y="158787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実践的</a:t>
              </a:r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コーディング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D186D1AF-EEE3-B222-A593-693894A55F54}"/>
                </a:ext>
              </a:extLst>
            </p:cNvPr>
            <p:cNvSpPr/>
            <p:nvPr/>
          </p:nvSpPr>
          <p:spPr>
            <a:xfrm>
              <a:off x="1371941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社会科学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研究デザイン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7FDDEC94-4BB5-96C6-9BEC-3E470CE29B11}"/>
                </a:ext>
              </a:extLst>
            </p:cNvPr>
            <p:cNvSpPr/>
            <p:nvPr/>
          </p:nvSpPr>
          <p:spPr>
            <a:xfrm>
              <a:off x="3731195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グループ研究準備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65D6321E-9831-2011-889C-53C75D428B8E}"/>
                </a:ext>
              </a:extLst>
            </p:cNvPr>
            <p:cNvSpPr/>
            <p:nvPr/>
          </p:nvSpPr>
          <p:spPr>
            <a:xfrm>
              <a:off x="6090449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グループ研究発表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D35F0AEF-D109-F7E1-566F-2FB460805D5C}"/>
                </a:ext>
              </a:extLst>
            </p:cNvPr>
            <p:cNvSpPr/>
            <p:nvPr/>
          </p:nvSpPr>
          <p:spPr>
            <a:xfrm>
              <a:off x="901018" y="5467140"/>
              <a:ext cx="7853632" cy="118410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7E28B4C9-AF9A-0A67-610D-331227D830E9}"/>
                </a:ext>
              </a:extLst>
            </p:cNvPr>
            <p:cNvSpPr txBox="1"/>
            <p:nvPr/>
          </p:nvSpPr>
          <p:spPr>
            <a:xfrm>
              <a:off x="1446440" y="177138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600" dirty="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の実装と解釈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8569B8CC-E73B-AC46-5324-4CAD9BEE6419}"/>
                </a:ext>
              </a:extLst>
            </p:cNvPr>
            <p:cNvSpPr/>
            <p:nvPr/>
          </p:nvSpPr>
          <p:spPr>
            <a:xfrm>
              <a:off x="1043510" y="769842"/>
              <a:ext cx="2558777" cy="417892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F678076C-3B70-F5B2-5ACD-9D871A95CA16}"/>
                </a:ext>
              </a:extLst>
            </p:cNvPr>
            <p:cNvSpPr txBox="1"/>
            <p:nvPr/>
          </p:nvSpPr>
          <p:spPr>
            <a:xfrm>
              <a:off x="1470597" y="620972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因果推論の基礎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87" name="直線矢印コネクタ 86">
              <a:extLst>
                <a:ext uri="{FF2B5EF4-FFF2-40B4-BE49-F238E27FC236}">
                  <a16:creationId xmlns:a16="http://schemas.microsoft.com/office/drawing/2014/main" id="{0E720E8B-4429-C0C0-F7FC-D341342B4D20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3402760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矢印コネクタ 89">
              <a:extLst>
                <a:ext uri="{FF2B5EF4-FFF2-40B4-BE49-F238E27FC236}">
                  <a16:creationId xmlns:a16="http://schemas.microsoft.com/office/drawing/2014/main" id="{95F7C235-1315-B5E3-E1FE-E42165A0CC70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5762014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フリーフォーム 53">
              <a:extLst>
                <a:ext uri="{FF2B5EF4-FFF2-40B4-BE49-F238E27FC236}">
                  <a16:creationId xmlns:a16="http://schemas.microsoft.com/office/drawing/2014/main" id="{959B7A9D-8AEC-CD79-4DDF-4A7E6C397EEB}"/>
                </a:ext>
              </a:extLst>
            </p:cNvPr>
            <p:cNvSpPr/>
            <p:nvPr/>
          </p:nvSpPr>
          <p:spPr>
            <a:xfrm>
              <a:off x="1195909" y="764380"/>
              <a:ext cx="7558741" cy="4184385"/>
            </a:xfrm>
            <a:custGeom>
              <a:avLst/>
              <a:gdLst>
                <a:gd name="csX0" fmla="*/ 3293387 w 7558741"/>
                <a:gd name="csY0" fmla="*/ 0 h 4184385"/>
                <a:gd name="csX1" fmla="*/ 6862240 w 7558741"/>
                <a:gd name="csY1" fmla="*/ 0 h 4184385"/>
                <a:gd name="csX2" fmla="*/ 7558741 w 7558741"/>
                <a:gd name="csY2" fmla="*/ 696501 h 4184385"/>
                <a:gd name="csX3" fmla="*/ 7558741 w 7558741"/>
                <a:gd name="csY3" fmla="*/ 3482422 h 4184385"/>
                <a:gd name="csX4" fmla="*/ 6862240 w 7558741"/>
                <a:gd name="csY4" fmla="*/ 4178923 h 4184385"/>
                <a:gd name="csX5" fmla="*/ 3724433 w 7558741"/>
                <a:gd name="csY5" fmla="*/ 4178923 h 4184385"/>
                <a:gd name="csX6" fmla="*/ 3670251 w 7558741"/>
                <a:gd name="csY6" fmla="*/ 4184385 h 4184385"/>
                <a:gd name="csX7" fmla="*/ 333636 w 7558741"/>
                <a:gd name="csY7" fmla="*/ 4184385 h 4184385"/>
                <a:gd name="csX8" fmla="*/ 0 w 7558741"/>
                <a:gd name="csY8" fmla="*/ 3850749 h 4184385"/>
                <a:gd name="csX9" fmla="*/ 0 w 7558741"/>
                <a:gd name="csY9" fmla="*/ 2516246 h 4184385"/>
                <a:gd name="csX10" fmla="*/ 333636 w 7558741"/>
                <a:gd name="csY10" fmla="*/ 2182610 h 4184385"/>
                <a:gd name="csX11" fmla="*/ 2596886 w 7558741"/>
                <a:gd name="csY11" fmla="*/ 2182610 h 4184385"/>
                <a:gd name="csX12" fmla="*/ 2596886 w 7558741"/>
                <a:gd name="csY12" fmla="*/ 696501 h 4184385"/>
                <a:gd name="csX13" fmla="*/ 3293387 w 7558741"/>
                <a:gd name="csY13" fmla="*/ 0 h 418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558741" h="4184385">
                  <a:moveTo>
                    <a:pt x="3293387" y="0"/>
                  </a:moveTo>
                  <a:lnTo>
                    <a:pt x="6862240" y="0"/>
                  </a:lnTo>
                  <a:cubicBezTo>
                    <a:pt x="7246907" y="0"/>
                    <a:pt x="7558741" y="311834"/>
                    <a:pt x="7558741" y="696501"/>
                  </a:cubicBezTo>
                  <a:lnTo>
                    <a:pt x="7558741" y="3482422"/>
                  </a:lnTo>
                  <a:cubicBezTo>
                    <a:pt x="7558741" y="3867089"/>
                    <a:pt x="7246907" y="4178923"/>
                    <a:pt x="6862240" y="4178923"/>
                  </a:cubicBezTo>
                  <a:lnTo>
                    <a:pt x="3724433" y="4178923"/>
                  </a:lnTo>
                  <a:lnTo>
                    <a:pt x="3670251" y="4184385"/>
                  </a:lnTo>
                  <a:lnTo>
                    <a:pt x="333636" y="4184385"/>
                  </a:lnTo>
                  <a:cubicBezTo>
                    <a:pt x="149374" y="4184385"/>
                    <a:pt x="0" y="4035011"/>
                    <a:pt x="0" y="3850749"/>
                  </a:cubicBezTo>
                  <a:lnTo>
                    <a:pt x="0" y="2516246"/>
                  </a:lnTo>
                  <a:cubicBezTo>
                    <a:pt x="0" y="2331984"/>
                    <a:pt x="149374" y="2182610"/>
                    <a:pt x="333636" y="2182610"/>
                  </a:cubicBezTo>
                  <a:lnTo>
                    <a:pt x="2596886" y="2182610"/>
                  </a:lnTo>
                  <a:lnTo>
                    <a:pt x="2596886" y="696501"/>
                  </a:lnTo>
                  <a:cubicBezTo>
                    <a:pt x="2596886" y="311834"/>
                    <a:pt x="2908720" y="0"/>
                    <a:pt x="3293387" y="0"/>
                  </a:cubicBezTo>
                  <a:close/>
                </a:path>
              </a:pathLst>
            </a:cu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678E560F-F9AD-97EF-CEB3-1B0091D6835F}"/>
                </a:ext>
              </a:extLst>
            </p:cNvPr>
            <p:cNvSpPr txBox="1"/>
            <p:nvPr/>
          </p:nvSpPr>
          <p:spPr>
            <a:xfrm>
              <a:off x="4015136" y="616875"/>
              <a:ext cx="191572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統計学の概念・手法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835632D6-38F6-1B58-E065-FEE58927AF42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3402764" y="1427167"/>
              <a:ext cx="527956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4C827ECC-056A-BCAA-7C07-5B1999511BB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3402761" y="2402630"/>
              <a:ext cx="527958" cy="395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01E2C8F8-B8B0-DD19-A4CF-863AB0AA19CC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3402762" y="3407170"/>
              <a:ext cx="52795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71EF5076-7602-55CF-E44A-A0C0C867F6E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7521719" y="1745375"/>
              <a:ext cx="1" cy="3524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矢印コネクタ 77">
              <a:extLst>
                <a:ext uri="{FF2B5EF4-FFF2-40B4-BE49-F238E27FC236}">
                  <a16:creationId xmlns:a16="http://schemas.microsoft.com/office/drawing/2014/main" id="{7CE62827-D452-FB65-8EC3-DA943F773435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7521718" y="2735760"/>
              <a:ext cx="1" cy="35243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03FD72C7-5735-FE89-B73C-27462D0FDC4B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9922461" y="2225830"/>
              <a:ext cx="0" cy="34183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カギ線コネクタ 85">
              <a:extLst>
                <a:ext uri="{FF2B5EF4-FFF2-40B4-BE49-F238E27FC236}">
                  <a16:creationId xmlns:a16="http://schemas.microsoft.com/office/drawing/2014/main" id="{A2325B1C-32A8-B9F0-CBFA-280DC4DB2FF3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rot="5400000">
              <a:off x="3497986" y="635509"/>
              <a:ext cx="337510" cy="255877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カギ線コネクタ 90">
              <a:extLst>
                <a:ext uri="{FF2B5EF4-FFF2-40B4-BE49-F238E27FC236}">
                  <a16:creationId xmlns:a16="http://schemas.microsoft.com/office/drawing/2014/main" id="{A3BB632F-A614-A58A-2932-AC2CED26A2AB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rot="5400000">
              <a:off x="3485424" y="1627488"/>
              <a:ext cx="362635" cy="255877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カギ線コネクタ 94">
              <a:extLst>
                <a:ext uri="{FF2B5EF4-FFF2-40B4-BE49-F238E27FC236}">
                  <a16:creationId xmlns:a16="http://schemas.microsoft.com/office/drawing/2014/main" id="{6D62B46D-FC46-FF72-3B30-B7FEC2A6C75B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rot="5400000">
              <a:off x="3486208" y="2627290"/>
              <a:ext cx="361067" cy="2558779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カギ線コネクタ 97">
              <a:extLst>
                <a:ext uri="{FF2B5EF4-FFF2-40B4-BE49-F238E27FC236}">
                  <a16:creationId xmlns:a16="http://schemas.microsoft.com/office/drawing/2014/main" id="{49A6E45F-2CE8-43BD-15AC-10CB21CD51F0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 flipV="1">
              <a:off x="3402760" y="1426399"/>
              <a:ext cx="3103550" cy="2979791"/>
            </a:xfrm>
            <a:prstGeom prst="bentConnector3">
              <a:avLst>
                <a:gd name="adj1" fmla="val 908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カギ線コネクタ 101">
              <a:extLst>
                <a:ext uri="{FF2B5EF4-FFF2-40B4-BE49-F238E27FC236}">
                  <a16:creationId xmlns:a16="http://schemas.microsoft.com/office/drawing/2014/main" id="{427854D3-9B5E-42E9-EDA8-2D293246C6AA}"/>
                </a:ext>
              </a:extLst>
            </p:cNvPr>
            <p:cNvCxnSpPr>
              <a:cxnSpLocks/>
              <a:stCxn id="14" idx="3"/>
              <a:endCxn id="15" idx="1"/>
            </p:cNvCxnSpPr>
            <p:nvPr/>
          </p:nvCxnSpPr>
          <p:spPr>
            <a:xfrm flipV="1">
              <a:off x="8537127" y="1906854"/>
              <a:ext cx="369924" cy="1500316"/>
            </a:xfrm>
            <a:prstGeom prst="bentConnector3">
              <a:avLst>
                <a:gd name="adj1" fmla="val 34551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カギ線コネクタ 108">
              <a:extLst>
                <a:ext uri="{FF2B5EF4-FFF2-40B4-BE49-F238E27FC236}">
                  <a16:creationId xmlns:a16="http://schemas.microsoft.com/office/drawing/2014/main" id="{1C169156-2239-461C-C094-CA6CD613E8E6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4878146" y="714825"/>
              <a:ext cx="2553520" cy="7535110"/>
            </a:xfrm>
            <a:prstGeom prst="bentConnector3">
              <a:avLst>
                <a:gd name="adj1" fmla="val 833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744D4D65-116E-62B8-79CF-0024B34A5544}"/>
                </a:ext>
              </a:extLst>
            </p:cNvPr>
            <p:cNvSpPr txBox="1"/>
            <p:nvPr/>
          </p:nvSpPr>
          <p:spPr>
            <a:xfrm>
              <a:off x="1131191" y="5267740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研究プロジェクト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854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グループ化 72">
            <a:extLst>
              <a:ext uri="{FF2B5EF4-FFF2-40B4-BE49-F238E27FC236}">
                <a16:creationId xmlns:a16="http://schemas.microsoft.com/office/drawing/2014/main" id="{7E8E9BA9-BC44-F54A-F2F7-F2CAB36CC072}"/>
              </a:ext>
            </a:extLst>
          </p:cNvPr>
          <p:cNvGrpSpPr/>
          <p:nvPr/>
        </p:nvGrpSpPr>
        <p:grpSpPr>
          <a:xfrm>
            <a:off x="2280831" y="157038"/>
            <a:ext cx="7630337" cy="6543923"/>
            <a:chOff x="2466184" y="242207"/>
            <a:chExt cx="7630337" cy="6543923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7062C4F4-E698-53CC-7CBB-70122E5B19B0}"/>
                </a:ext>
              </a:extLst>
            </p:cNvPr>
            <p:cNvSpPr/>
            <p:nvPr/>
          </p:nvSpPr>
          <p:spPr>
            <a:xfrm>
              <a:off x="2654126" y="60751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E8B8E29B-9BF0-459D-057A-006C724DFAE8}"/>
                </a:ext>
              </a:extLst>
            </p:cNvPr>
            <p:cNvSpPr/>
            <p:nvPr/>
          </p:nvSpPr>
          <p:spPr>
            <a:xfrm>
              <a:off x="5265945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数量データ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因果推論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E7C69C-7793-8814-231B-04ED68B4F031}"/>
                </a:ext>
              </a:extLst>
            </p:cNvPr>
            <p:cNvSpPr/>
            <p:nvPr/>
          </p:nvSpPr>
          <p:spPr>
            <a:xfrm>
              <a:off x="7877763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en-US" altLang="ja-JP" sz="16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R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言語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8931DD73-434B-FF01-25C6-D8BC30873162}"/>
                </a:ext>
              </a:extLst>
            </p:cNvPr>
            <p:cNvSpPr/>
            <p:nvPr/>
          </p:nvSpPr>
          <p:spPr>
            <a:xfrm>
              <a:off x="265412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8236D719-0772-C9A2-BB57-C4255B0501C5}"/>
                </a:ext>
              </a:extLst>
            </p:cNvPr>
            <p:cNvSpPr/>
            <p:nvPr/>
          </p:nvSpPr>
          <p:spPr>
            <a:xfrm>
              <a:off x="265412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応用編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987175AE-73F6-D0EB-86DB-76D87733835B}"/>
                </a:ext>
              </a:extLst>
            </p:cNvPr>
            <p:cNvSpPr/>
            <p:nvPr/>
          </p:nvSpPr>
          <p:spPr>
            <a:xfrm>
              <a:off x="265412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AF032ED0-3F8A-4B3E-5F7F-A9A772AD9942}"/>
                </a:ext>
              </a:extLst>
            </p:cNvPr>
            <p:cNvSpPr/>
            <p:nvPr/>
          </p:nvSpPr>
          <p:spPr>
            <a:xfrm>
              <a:off x="2654126" y="495881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復習編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932C174-AE9D-0D54-AF2B-CE08789C3953}"/>
                </a:ext>
              </a:extLst>
            </p:cNvPr>
            <p:cNvSpPr/>
            <p:nvPr/>
          </p:nvSpPr>
          <p:spPr>
            <a:xfrm>
              <a:off x="526594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A2B2875D-058F-F1A9-2141-5C95F046E64B}"/>
                </a:ext>
              </a:extLst>
            </p:cNvPr>
            <p:cNvSpPr/>
            <p:nvPr/>
          </p:nvSpPr>
          <p:spPr>
            <a:xfrm>
              <a:off x="526594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5A041EC3-2436-B382-7DAA-4E556B3D43C4}"/>
                </a:ext>
              </a:extLst>
            </p:cNvPr>
            <p:cNvSpPr/>
            <p:nvPr/>
          </p:nvSpPr>
          <p:spPr>
            <a:xfrm>
              <a:off x="526594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復習編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F05BCDDA-269B-8578-FF4D-2D838D4B324C}"/>
                </a:ext>
              </a:extLst>
            </p:cNvPr>
            <p:cNvSpPr/>
            <p:nvPr/>
          </p:nvSpPr>
          <p:spPr>
            <a:xfrm>
              <a:off x="7877768" y="186876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5335377-FBD2-6C8A-0F65-70CBE120870C}"/>
                </a:ext>
              </a:extLst>
            </p:cNvPr>
            <p:cNvSpPr/>
            <p:nvPr/>
          </p:nvSpPr>
          <p:spPr>
            <a:xfrm>
              <a:off x="7877767" y="289877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FEC50CAD-6E8C-C4E2-103A-A4D187BE1A46}"/>
                </a:ext>
              </a:extLst>
            </p:cNvPr>
            <p:cNvSpPr/>
            <p:nvPr/>
          </p:nvSpPr>
          <p:spPr>
            <a:xfrm>
              <a:off x="7877766" y="39287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復習編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54D0E800-8255-6D69-690F-286859BB849E}"/>
                </a:ext>
              </a:extLst>
            </p:cNvPr>
            <p:cNvSpPr/>
            <p:nvPr/>
          </p:nvSpPr>
          <p:spPr>
            <a:xfrm>
              <a:off x="5265944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授業全体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CF2941F1-DD80-FD06-8423-F92A424C70EE}"/>
                </a:ext>
              </a:extLst>
            </p:cNvPr>
            <p:cNvSpPr/>
            <p:nvPr/>
          </p:nvSpPr>
          <p:spPr>
            <a:xfrm>
              <a:off x="7877763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理解度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確認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915951D3-F2E7-1CBD-97A2-C27623550F9F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 flipV="1">
              <a:off x="4684945" y="923866"/>
              <a:ext cx="581000" cy="2626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E3F6ECD0-C478-6DAF-2C5A-7CC94E68B9E4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7296764" y="923866"/>
              <a:ext cx="5809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172EEE39-C6E1-1877-5E04-C817BE9A35AA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296763" y="6305176"/>
              <a:ext cx="581000" cy="262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3F6F0AD2-6314-5DF1-D4E2-ED7C502CA8D0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366953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D3D355B-7526-ACB2-FF61-BB01B6D3E070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 flipH="1">
              <a:off x="366953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697E30CF-7F12-2B35-E9D0-DFAED0B41EA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3669536" y="4566748"/>
              <a:ext cx="0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矢印コネクタ 37">
              <a:extLst>
                <a:ext uri="{FF2B5EF4-FFF2-40B4-BE49-F238E27FC236}">
                  <a16:creationId xmlns:a16="http://schemas.microsoft.com/office/drawing/2014/main" id="{0AB877B7-7BDC-F199-BD8C-19722199A92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628135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EEAEA275-E72F-3EFE-1D8C-F19EF059BBD9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628135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E49490E2-4955-822A-7102-DDC299766D52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8893177" y="2506716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5904C45-8511-76EE-D8B6-580FA927ED60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8893176" y="3536732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カギ線コネクタ 49">
              <a:extLst>
                <a:ext uri="{FF2B5EF4-FFF2-40B4-BE49-F238E27FC236}">
                  <a16:creationId xmlns:a16="http://schemas.microsoft.com/office/drawing/2014/main" id="{185F73AB-5D6B-9148-5FC9-AA3348945D30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5968395" y="-1056014"/>
              <a:ext cx="625922" cy="522363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カギ線コネクタ 52">
              <a:extLst>
                <a:ext uri="{FF2B5EF4-FFF2-40B4-BE49-F238E27FC236}">
                  <a16:creationId xmlns:a16="http://schemas.microsoft.com/office/drawing/2014/main" id="{F4E97636-E43A-4815-3650-87168DA30FEA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4684945" y="2187741"/>
              <a:ext cx="581003" cy="309004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カギ線コネクタ 55">
              <a:extLst>
                <a:ext uri="{FF2B5EF4-FFF2-40B4-BE49-F238E27FC236}">
                  <a16:creationId xmlns:a16="http://schemas.microsoft.com/office/drawing/2014/main" id="{2E2D0642-8D21-8FCC-7A91-A00FE85DEE31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 flipV="1">
              <a:off x="7296765" y="2187740"/>
              <a:ext cx="581003" cy="206003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カギ線コネクタ 58">
              <a:extLst>
                <a:ext uri="{FF2B5EF4-FFF2-40B4-BE49-F238E27FC236}">
                  <a16:creationId xmlns:a16="http://schemas.microsoft.com/office/drawing/2014/main" id="{06ED39F4-3C0C-2462-8825-39596E85AC62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6876226" y="3971875"/>
              <a:ext cx="1422079" cy="261182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4580C3EC-F735-1785-DFF2-32D4C855BC3B}"/>
                </a:ext>
              </a:extLst>
            </p:cNvPr>
            <p:cNvSpPr/>
            <p:nvPr/>
          </p:nvSpPr>
          <p:spPr>
            <a:xfrm>
              <a:off x="2466184" y="445538"/>
              <a:ext cx="7630337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9D9D3D19-AA4F-5EFF-1776-D951464EA798}"/>
                </a:ext>
              </a:extLst>
            </p:cNvPr>
            <p:cNvSpPr/>
            <p:nvPr/>
          </p:nvSpPr>
          <p:spPr>
            <a:xfrm>
              <a:off x="2466185" y="1752486"/>
              <a:ext cx="2400104" cy="400718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15586E4-D53A-C9ED-CD6C-05D52FB99895}"/>
                </a:ext>
              </a:extLst>
            </p:cNvPr>
            <p:cNvSpPr/>
            <p:nvPr/>
          </p:nvSpPr>
          <p:spPr>
            <a:xfrm>
              <a:off x="5081305" y="1752487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07430A56-E311-AE1B-631F-01FD7A1789B5}"/>
                </a:ext>
              </a:extLst>
            </p:cNvPr>
            <p:cNvSpPr/>
            <p:nvPr/>
          </p:nvSpPr>
          <p:spPr>
            <a:xfrm>
              <a:off x="7696417" y="1752486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テキスト ボックス 66">
              <a:extLst>
                <a:ext uri="{FF2B5EF4-FFF2-40B4-BE49-F238E27FC236}">
                  <a16:creationId xmlns:a16="http://schemas.microsoft.com/office/drawing/2014/main" id="{8519BD24-F3DB-6542-67AD-02D9EAB496F5}"/>
                </a:ext>
              </a:extLst>
            </p:cNvPr>
            <p:cNvSpPr txBox="1"/>
            <p:nvPr/>
          </p:nvSpPr>
          <p:spPr>
            <a:xfrm>
              <a:off x="2654126" y="242207"/>
              <a:ext cx="203081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イントロダクション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7AC1D418-AC9A-5CE1-F09B-46E33D96D769}"/>
                </a:ext>
              </a:extLst>
            </p:cNvPr>
            <p:cNvSpPr txBox="1"/>
            <p:nvPr/>
          </p:nvSpPr>
          <p:spPr>
            <a:xfrm>
              <a:off x="2654126" y="1457124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9FA3DB0B-4480-F6D4-14E8-12CA4D374025}"/>
                </a:ext>
              </a:extLst>
            </p:cNvPr>
            <p:cNvSpPr txBox="1"/>
            <p:nvPr/>
          </p:nvSpPr>
          <p:spPr>
            <a:xfrm>
              <a:off x="5335029" y="1452989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A1B5FF57-7D1F-F707-7B3A-1DFDE3E52F6B}"/>
                </a:ext>
              </a:extLst>
            </p:cNvPr>
            <p:cNvSpPr txBox="1"/>
            <p:nvPr/>
          </p:nvSpPr>
          <p:spPr>
            <a:xfrm>
              <a:off x="7872383" y="1437183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E4B73113-BF77-2072-1845-121C00D550D2}"/>
                </a:ext>
              </a:extLst>
            </p:cNvPr>
            <p:cNvSpPr/>
            <p:nvPr/>
          </p:nvSpPr>
          <p:spPr>
            <a:xfrm>
              <a:off x="5081305" y="5829475"/>
              <a:ext cx="5015216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16ED0477-1CD4-B759-9D2A-5486F9F0D3F4}"/>
                </a:ext>
              </a:extLst>
            </p:cNvPr>
            <p:cNvSpPr txBox="1"/>
            <p:nvPr/>
          </p:nvSpPr>
          <p:spPr>
            <a:xfrm>
              <a:off x="5233591" y="5597161"/>
              <a:ext cx="176693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</a:t>
              </a:r>
              <a:r>
                <a:rPr lang="ja-JP" altLang="en-US" sz="1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4174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091A731-7653-7F67-8E14-E3CAB1EE01CD}"/>
              </a:ext>
            </a:extLst>
          </p:cNvPr>
          <p:cNvGrpSpPr/>
          <p:nvPr/>
        </p:nvGrpSpPr>
        <p:grpSpPr>
          <a:xfrm>
            <a:off x="982547" y="1311007"/>
            <a:ext cx="9448591" cy="3997287"/>
            <a:chOff x="982547" y="1311007"/>
            <a:chExt cx="9448591" cy="39972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独立変数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従属変数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右矢印 4">
              <a:extLst>
                <a:ext uri="{FF2B5EF4-FFF2-40B4-BE49-F238E27FC236}">
                  <a16:creationId xmlns:a16="http://schemas.microsoft.com/office/drawing/2014/main" id="{42ABEF9F-544D-0E0C-8518-CBB2A6739C2A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F40AEC62-17DF-568A-5FA9-10323D712E4F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ACABEAF0-7121-5FC5-2DFC-819A3C834672}"/>
                </a:ext>
              </a:extLst>
            </p:cNvPr>
            <p:cNvCxnSpPr>
              <a:stCxn id="2" idx="2"/>
              <a:endCxn id="4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9E6074A-DF16-8572-D583-0941860CC2D6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6995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CE88E19-3A4A-642A-6CBF-F5D7BDDBF047}"/>
              </a:ext>
            </a:extLst>
          </p:cNvPr>
          <p:cNvGrpSpPr/>
          <p:nvPr/>
        </p:nvGrpSpPr>
        <p:grpSpPr>
          <a:xfrm>
            <a:off x="982547" y="542887"/>
            <a:ext cx="9448591" cy="4765407"/>
            <a:chOff x="982547" y="542887"/>
            <a:chExt cx="9448591" cy="4765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ドーナツ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体重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例：身長</a:t>
                  </a:r>
                  <a:endParaRPr kumimoji="1" lang="ja-JP" altLang="en-US" sz="2800" b="1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DC8AD7A7-A552-166A-B66C-E1BDD5152CA0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00794D2B-E5E4-73D5-32AB-A1FB2E5D83C8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6DBB40F-74AF-C858-9A6A-1B1D789F26A6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A64D053-ACF3-43A9-2726-95A93E6817A8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9BBA96B-F608-3D42-F6DB-FB4C94AC6359}"/>
                </a:ext>
              </a:extLst>
            </p:cNvPr>
            <p:cNvSpPr txBox="1"/>
            <p:nvPr/>
          </p:nvSpPr>
          <p:spPr>
            <a:xfrm>
              <a:off x="4173755" y="542887"/>
              <a:ext cx="32624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見せかけの相関かも？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F2C7E508-E480-1A5F-7F70-33478D013A57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5804971" y="1004552"/>
              <a:ext cx="0" cy="72121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1075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5D09ABA-567C-65E1-8F77-A794E8202606}"/>
              </a:ext>
            </a:extLst>
          </p:cNvPr>
          <p:cNvGrpSpPr/>
          <p:nvPr/>
        </p:nvGrpSpPr>
        <p:grpSpPr>
          <a:xfrm>
            <a:off x="1178805" y="1311007"/>
            <a:ext cx="9252333" cy="3997287"/>
            <a:chOff x="1178805" y="1311007"/>
            <a:chExt cx="9252333" cy="39972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新薬の投与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死亡率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en-US" altLang="ja-JP" sz="2800" b="1" dirty="0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  <a:p>
                  <a:pPr algn="ctr"/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例：体質</a:t>
                  </a: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20FD50A2-5469-A93F-5DDA-7336E291A888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8DD0A604-75D0-74A8-DEE4-2345A1356C15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699DED0-7C99-1155-E4B2-A59586318035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>
                  <a:alpha val="16196"/>
                </a:schemeClr>
              </a:solidFill>
              <a:prstDash val="sysDot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8499B92D-08D8-272D-502E-514B884ECEDB}"/>
                </a:ext>
              </a:extLst>
            </p:cNvPr>
            <p:cNvSpPr txBox="1"/>
            <p:nvPr/>
          </p:nvSpPr>
          <p:spPr>
            <a:xfrm>
              <a:off x="1695097" y="3082886"/>
              <a:ext cx="16243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無相関</a:t>
              </a:r>
              <a:endParaRPr kumimoji="1"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399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7CBA2E1-0EC2-A817-871B-1894109E4A50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E82E1DA-D152-D3D3-2DF6-B503B6BE0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06C76FDB-F36A-C7DE-7FDD-910997F5048D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/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適当に引いた線</a:t>
                  </a:r>
                  <a:endParaRPr kumimoji="1"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blipFill>
                  <a:blip r:embed="rId3"/>
                  <a:stretch>
                    <a:fillRect l="-3502" t="-3614" b="-4819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2FAA2537-CA00-0010-942B-DBC5EE139551}"/>
                </a:ext>
              </a:extLst>
            </p:cNvPr>
            <p:cNvSpPr/>
            <p:nvPr/>
          </p:nvSpPr>
          <p:spPr>
            <a:xfrm rot="13536141">
              <a:off x="9261748" y="2299544"/>
              <a:ext cx="815486" cy="367394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3198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73E1F-39F4-FBDB-D9AD-1C0CA01F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6C2852-3E5E-A0C7-10DB-067399038266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BF1276B8-1FF2-5691-6F2F-AEC60DD08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63A22BE3-27B2-63BD-973D-C7B005305F76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" name="上下矢印 1">
              <a:extLst>
                <a:ext uri="{FF2B5EF4-FFF2-40B4-BE49-F238E27FC236}">
                  <a16:creationId xmlns:a16="http://schemas.microsoft.com/office/drawing/2014/main" id="{59CF0085-D67F-E2C8-9BE7-74D19A3F09C6}"/>
                </a:ext>
              </a:extLst>
            </p:cNvPr>
            <p:cNvSpPr/>
            <p:nvPr/>
          </p:nvSpPr>
          <p:spPr>
            <a:xfrm>
              <a:off x="7535537" y="1200838"/>
              <a:ext cx="440675" cy="1399143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上下矢印 2">
              <a:extLst>
                <a:ext uri="{FF2B5EF4-FFF2-40B4-BE49-F238E27FC236}">
                  <a16:creationId xmlns:a16="http://schemas.microsoft.com/office/drawing/2014/main" id="{717A37D8-3DFE-D2E4-63E0-B0562209BA70}"/>
                </a:ext>
              </a:extLst>
            </p:cNvPr>
            <p:cNvSpPr/>
            <p:nvPr/>
          </p:nvSpPr>
          <p:spPr>
            <a:xfrm>
              <a:off x="6432013" y="3248139"/>
              <a:ext cx="440675" cy="1279794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上下矢印 3">
              <a:extLst>
                <a:ext uri="{FF2B5EF4-FFF2-40B4-BE49-F238E27FC236}">
                  <a16:creationId xmlns:a16="http://schemas.microsoft.com/office/drawing/2014/main" id="{D30E07B0-35EE-4E61-BC6B-4420EFD92ACB}"/>
                </a:ext>
              </a:extLst>
            </p:cNvPr>
            <p:cNvSpPr/>
            <p:nvPr/>
          </p:nvSpPr>
          <p:spPr>
            <a:xfrm>
              <a:off x="5117469" y="2858188"/>
              <a:ext cx="440675" cy="779901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/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引いた線との</a:t>
                  </a:r>
                  <a:r>
                    <a:rPr kumimoji="1"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ずれ</a:t>
                  </a:r>
                  <a:endParaRPr kumimoji="1" lang="en-US" altLang="ja-JP" sz="3200" b="1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→最小化するような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切片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と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傾き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を求める</a:t>
                  </a:r>
                  <a:endParaRPr kumimoji="1" lang="ja-JP" altLang="en-US" sz="32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blipFill>
                  <a:blip r:embed="rId4"/>
                  <a:stretch>
                    <a:fillRect l="-2667" t="-3077" r="-2133" b="-10000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上下矢印 5">
              <a:extLst>
                <a:ext uri="{FF2B5EF4-FFF2-40B4-BE49-F238E27FC236}">
                  <a16:creationId xmlns:a16="http://schemas.microsoft.com/office/drawing/2014/main" id="{861C6050-56B3-3A71-5C6A-1DCBECABD81A}"/>
                </a:ext>
              </a:extLst>
            </p:cNvPr>
            <p:cNvSpPr/>
            <p:nvPr/>
          </p:nvSpPr>
          <p:spPr>
            <a:xfrm>
              <a:off x="4676794" y="3888036"/>
              <a:ext cx="440675" cy="1135656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0018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20CE450-64BA-7374-CAC1-7B984523ED4A}"/>
              </a:ext>
            </a:extLst>
          </p:cNvPr>
          <p:cNvGrpSpPr/>
          <p:nvPr/>
        </p:nvGrpSpPr>
        <p:grpSpPr>
          <a:xfrm>
            <a:off x="309386" y="172104"/>
            <a:ext cx="11573228" cy="6513791"/>
            <a:chOff x="82617" y="127349"/>
            <a:chExt cx="11573228" cy="6513791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A70AF9E6-E9A8-E511-50C9-CB8DEB3E9094}"/>
                </a:ext>
              </a:extLst>
            </p:cNvPr>
            <p:cNvSpPr/>
            <p:nvPr/>
          </p:nvSpPr>
          <p:spPr>
            <a:xfrm>
              <a:off x="4406746" y="561860"/>
              <a:ext cx="7249099" cy="5971142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A4BDCA83-A6CF-BF9D-2086-D1A7037398EE}"/>
                </a:ext>
              </a:extLst>
            </p:cNvPr>
            <p:cNvSpPr txBox="1"/>
            <p:nvPr/>
          </p:nvSpPr>
          <p:spPr>
            <a:xfrm>
              <a:off x="6764355" y="782198"/>
              <a:ext cx="25338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A27365E-C8CF-2322-DE86-7EF1F63C4CE3}"/>
                </a:ext>
              </a:extLst>
            </p:cNvPr>
            <p:cNvSpPr txBox="1"/>
            <p:nvPr/>
          </p:nvSpPr>
          <p:spPr>
            <a:xfrm>
              <a:off x="5249534" y="1581626"/>
              <a:ext cx="556351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日本人が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洋画を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時間／週見ると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TOEIC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の点数は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点上がる。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/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TOEI</m:t>
                        </m:r>
                        <m:sSub>
                          <m:sSubPr>
                            <m:ctrlPr>
                              <a:rPr kumimoji="1" lang="en-US" altLang="ja-JP" sz="2800" b="0" i="0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800" b="0" i="0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C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</m:t>
                        </m:r>
                        <m:r>
                          <a:rPr lang="ja-JP" altLang="en-US" sz="280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視聴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i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20×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洋画視聴時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blipFill>
                  <a:blip r:embed="rId2"/>
                  <a:stretch>
                    <a:fillRect l="-430" b="-103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/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真の値：</a:t>
                  </a:r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</m:oMath>
                    </m:oMathPara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【</a:t>
                  </a:r>
                  <a:r>
                    <a:rPr lang="ja-JP" altLang="en-US" sz="2800" u="sng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これを推定したい</a:t>
                  </a:r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】</a:t>
                  </a:r>
                  <a:endParaRPr kumimoji="1" lang="en-US" altLang="ja-JP" sz="2800" b="0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blipFill>
                  <a:blip r:embed="rId3"/>
                  <a:stretch>
                    <a:fillRect t="-5455"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等号 9">
              <a:extLst>
                <a:ext uri="{FF2B5EF4-FFF2-40B4-BE49-F238E27FC236}">
                  <a16:creationId xmlns:a16="http://schemas.microsoft.com/office/drawing/2014/main" id="{EE83D06A-085E-F6B3-A02B-8BFAEE2A0DB0}"/>
                </a:ext>
              </a:extLst>
            </p:cNvPr>
            <p:cNvSpPr/>
            <p:nvPr/>
          </p:nvSpPr>
          <p:spPr>
            <a:xfrm rot="5400000">
              <a:off x="7692522" y="4123040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等号 10">
              <a:extLst>
                <a:ext uri="{FF2B5EF4-FFF2-40B4-BE49-F238E27FC236}">
                  <a16:creationId xmlns:a16="http://schemas.microsoft.com/office/drawing/2014/main" id="{EF366DC3-E992-176D-2492-7E8CF2EF6891}"/>
                </a:ext>
              </a:extLst>
            </p:cNvPr>
            <p:cNvSpPr/>
            <p:nvPr/>
          </p:nvSpPr>
          <p:spPr>
            <a:xfrm rot="5400000">
              <a:off x="7692523" y="2555411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/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𝟏𝟖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𝟔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blipFill>
                  <a:blip r:embed="rId4"/>
                  <a:stretch>
                    <a:fillRect l="-1245" t="-11111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/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𝟒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blipFill>
                  <a:blip r:embed="rId5"/>
                  <a:stretch>
                    <a:fillRect l="-1245" t="-8333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/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3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𝟏𝟕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𝟖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blipFill>
                  <a:blip r:embed="rId6"/>
                  <a:stretch>
                    <a:fillRect l="-1245" t="-9722" b="-180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/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4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𝟐𝟐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𝟑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blipFill>
                  <a:blip r:embed="rId7"/>
                  <a:stretch>
                    <a:fillRect l="-1245" t="-2439" b="-97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/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5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𝟏𝟗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𝟕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blipFill>
                  <a:blip r:embed="rId8"/>
                  <a:stretch>
                    <a:fillRect l="-1245" t="-2469" b="-11111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5123BCB0-47BE-BC55-EBD5-231A657E227B}"/>
                </a:ext>
              </a:extLst>
            </p:cNvPr>
            <p:cNvSpPr txBox="1"/>
            <p:nvPr/>
          </p:nvSpPr>
          <p:spPr>
            <a:xfrm rot="5400000">
              <a:off x="1157149" y="5733680"/>
              <a:ext cx="89159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5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endParaRPr kumimoji="1" lang="ja-JP" altLang="en-US" sz="54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0" name="右矢印 19">
              <a:extLst>
                <a:ext uri="{FF2B5EF4-FFF2-40B4-BE49-F238E27FC236}">
                  <a16:creationId xmlns:a16="http://schemas.microsoft.com/office/drawing/2014/main" id="{96B03C96-D6EA-281B-027F-D1103813B253}"/>
                </a:ext>
              </a:extLst>
            </p:cNvPr>
            <p:cNvSpPr/>
            <p:nvPr/>
          </p:nvSpPr>
          <p:spPr>
            <a:xfrm flipH="1">
              <a:off x="3261904" y="283684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右矢印 20">
              <a:extLst>
                <a:ext uri="{FF2B5EF4-FFF2-40B4-BE49-F238E27FC236}">
                  <a16:creationId xmlns:a16="http://schemas.microsoft.com/office/drawing/2014/main" id="{6E1C81EA-1CD9-ACC2-B38B-300CDC1E06CE}"/>
                </a:ext>
              </a:extLst>
            </p:cNvPr>
            <p:cNvSpPr/>
            <p:nvPr/>
          </p:nvSpPr>
          <p:spPr>
            <a:xfrm flipH="1">
              <a:off x="3261904" y="1357890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4E10C11-9AC6-B566-8AFC-7DEA58193F0A}"/>
                </a:ext>
              </a:extLst>
            </p:cNvPr>
            <p:cNvSpPr/>
            <p:nvPr/>
          </p:nvSpPr>
          <p:spPr>
            <a:xfrm flipH="1">
              <a:off x="3239415" y="2432096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右矢印 22">
              <a:extLst>
                <a:ext uri="{FF2B5EF4-FFF2-40B4-BE49-F238E27FC236}">
                  <a16:creationId xmlns:a16="http://schemas.microsoft.com/office/drawing/2014/main" id="{A0D768B1-B17D-83BE-9DDA-1AE99E6D41B6}"/>
                </a:ext>
              </a:extLst>
            </p:cNvPr>
            <p:cNvSpPr/>
            <p:nvPr/>
          </p:nvSpPr>
          <p:spPr>
            <a:xfrm flipH="1">
              <a:off x="3261904" y="354743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DBE6BF-0B81-06DA-5F84-B75C2131947F}"/>
                </a:ext>
              </a:extLst>
            </p:cNvPr>
            <p:cNvSpPr/>
            <p:nvPr/>
          </p:nvSpPr>
          <p:spPr>
            <a:xfrm flipH="1">
              <a:off x="3261903" y="474897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939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5198321D-CD25-24D4-0796-575CB2F39903}"/>
              </a:ext>
            </a:extLst>
          </p:cNvPr>
          <p:cNvGrpSpPr/>
          <p:nvPr/>
        </p:nvGrpSpPr>
        <p:grpSpPr>
          <a:xfrm>
            <a:off x="1267812" y="1023970"/>
            <a:ext cx="9805330" cy="5060036"/>
            <a:chOff x="1267812" y="1023970"/>
            <a:chExt cx="9805330" cy="50600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/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アイスクリーム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𝑿</m:t>
                          </m:r>
                        </m:e>
                        <m:sub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4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/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凶悪犯罪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𝒀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/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𝜺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例：暑さ</a:t>
                  </a:r>
                  <a:endParaRPr kumimoji="1" lang="en-US" altLang="ja-JP" sz="20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38EF0A46-BA32-7091-43BE-364E2864607E}"/>
                </a:ext>
              </a:extLst>
            </p:cNvPr>
            <p:cNvSpPr/>
            <p:nvPr/>
          </p:nvSpPr>
          <p:spPr>
            <a:xfrm>
              <a:off x="4772411" y="2114918"/>
              <a:ext cx="3349128" cy="556352"/>
            </a:xfrm>
            <a:prstGeom prst="rightArrow">
              <a:avLst/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7F551598-7FE7-FD3A-D699-003B60DBAB33}"/>
                </a:ext>
              </a:extLst>
            </p:cNvPr>
            <p:cNvSpPr/>
            <p:nvPr/>
          </p:nvSpPr>
          <p:spPr>
            <a:xfrm rot="19845398">
              <a:off x="4648871" y="4019687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1D90A420-678C-626C-B008-8974449CF438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3164867" y="2949446"/>
              <a:ext cx="0" cy="1771879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/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相関関係</a:t>
                  </a:r>
                  <a:endParaRPr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corr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X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ja-JP" sz="280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ε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28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blipFill>
                  <a:blip r:embed="rId6"/>
                  <a:stretch>
                    <a:fillRect l="-2878" t="-6579" r="-2878" b="-1184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/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=0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6977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1E3E265E-1D13-90C3-BC0C-D16F98EAFE35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6446975" y="1670301"/>
              <a:ext cx="1" cy="53655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/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ln w="317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ja-JP" sz="2800" b="0" dirty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OLS</a:t>
                  </a:r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推定値</a:t>
                  </a:r>
                  <a14:m>
                    <m:oMath xmlns:m="http://schemas.openxmlformats.org/officeDocument/2006/math">
                      <m:acc>
                        <m:accPr>
                          <m:chr m:val="ˆ"/>
                          <m:ctrlPr>
                            <a:rPr lang="ja-JP" altLang="ja-JP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の期待値：</a:t>
                  </a:r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ja-JP" altLang="ja-JP" sz="2800" b="0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corr</m:t>
                        </m:r>
                        <m:d>
                          <m:d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  <m:f>
                          <m:f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blipFill>
                  <a:blip r:embed="rId8"/>
                  <a:stretch>
                    <a:fillRect t="-3604" r="-559" b="-901"/>
                  </a:stretch>
                </a:blipFill>
                <a:ln w="3175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9804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460AE991-C628-2D90-B89F-ED66E58613C5}"/>
              </a:ext>
            </a:extLst>
          </p:cNvPr>
          <p:cNvGrpSpPr/>
          <p:nvPr/>
        </p:nvGrpSpPr>
        <p:grpSpPr>
          <a:xfrm>
            <a:off x="606840" y="593541"/>
            <a:ext cx="10978320" cy="5670919"/>
            <a:chOff x="606840" y="593541"/>
            <a:chExt cx="10978320" cy="5670919"/>
          </a:xfrm>
        </p:grpSpPr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46260787-7B9D-3585-A8B3-4691CD527C99}"/>
                </a:ext>
              </a:extLst>
            </p:cNvPr>
            <p:cNvGrpSpPr/>
            <p:nvPr/>
          </p:nvGrpSpPr>
          <p:grpSpPr>
            <a:xfrm>
              <a:off x="9051280" y="1003829"/>
              <a:ext cx="2533880" cy="4850341"/>
              <a:chOff x="7291332" y="2404775"/>
              <a:chExt cx="2533880" cy="2048450"/>
            </a:xfrm>
          </p:grpSpPr>
          <p:sp>
            <p:nvSpPr>
              <p:cNvPr id="22" name="角丸四角形 21">
                <a:extLst>
                  <a:ext uri="{FF2B5EF4-FFF2-40B4-BE49-F238E27FC236}">
                    <a16:creationId xmlns:a16="http://schemas.microsoft.com/office/drawing/2014/main" id="{DC2EED71-CE35-A19F-E20F-31F8CDF3C7AF}"/>
                  </a:ext>
                </a:extLst>
              </p:cNvPr>
              <p:cNvSpPr/>
              <p:nvPr/>
            </p:nvSpPr>
            <p:spPr>
              <a:xfrm>
                <a:off x="7379008" y="2404775"/>
                <a:ext cx="2358528" cy="2048450"/>
              </a:xfrm>
              <a:prstGeom prst="round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D92D106B-48BA-9B33-68A2-5348862D6141}"/>
                  </a:ext>
                </a:extLst>
              </p:cNvPr>
              <p:cNvSpPr txBox="1"/>
              <p:nvPr/>
            </p:nvSpPr>
            <p:spPr>
              <a:xfrm>
                <a:off x="7291332" y="2543272"/>
                <a:ext cx="253388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 b="1">
                    <a:latin typeface="Hiragino Sans W8" panose="020B0400000000000000" pitchFamily="34" charset="-128"/>
                    <a:ea typeface="Hiragino Sans W8" panose="020B0400000000000000" pitchFamily="34" charset="-128"/>
                  </a:rPr>
                  <a:t>母集団</a:t>
                </a:r>
                <a:endParaRPr kumimoji="1" lang="ja-JP" altLang="en-US" b="1">
                  <a:latin typeface="Hiragino Sans W8" panose="020B0400000000000000" pitchFamily="34" charset="-128"/>
                  <a:ea typeface="Hiragino Sans W8" panose="020B0400000000000000" pitchFamily="34" charset="-128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CDBFAD5B-B76C-D156-3835-D06DBAA65279}"/>
                      </a:ext>
                    </a:extLst>
                  </p:cNvPr>
                  <p:cNvSpPr txBox="1"/>
                  <p:nvPr/>
                </p:nvSpPr>
                <p:spPr>
                  <a:xfrm>
                    <a:off x="7466684" y="3266543"/>
                    <a:ext cx="2183176" cy="95410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kumimoji="1" lang="ja-JP" altLang="en-US" sz="2800" b="1">
                        <a:latin typeface="Cambria Math" panose="02040503050406030204" pitchFamily="18" charset="0"/>
                        <a:ea typeface="Hiragino Sans W4" panose="020B0400000000000000" pitchFamily="34" charset="-128"/>
                      </a:rPr>
                      <a:t>真の値：</a:t>
                    </a:r>
                    <a:endParaRPr kumimoji="1" lang="en-US" altLang="ja-JP" sz="2800" b="1" dirty="0">
                      <a:latin typeface="Cambria Math" panose="02040503050406030204" pitchFamily="18" charset="0"/>
                      <a:ea typeface="Hiragino Sans W4" panose="020B0400000000000000" pitchFamily="34" charset="-128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800" b="1" i="1" smtClean="0"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sSubPr>
                            <m:e>
                              <m:r>
                                <a:rPr lang="en-US" altLang="ja-JP" sz="2800" b="1" i="1" smtClean="0"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  <m:sub>
                              <m:r>
                                <a:rPr lang="en-US" altLang="ja-JP" sz="2800" b="1" i="1" smtClean="0"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ja-JP" sz="2800" b="1" i="1" smtClean="0"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=</m:t>
                          </m:r>
                          <m:r>
                            <a:rPr lang="en-US" altLang="ja-JP" sz="2800" b="1" i="1" smtClean="0"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?</m:t>
                          </m:r>
                        </m:oMath>
                      </m:oMathPara>
                    </a14:m>
                    <a:endParaRPr kumimoji="1" lang="en-US" altLang="ja-JP" sz="2800" b="1" dirty="0">
                      <a:latin typeface="Cambria Math" panose="02040503050406030204" pitchFamily="18" charset="0"/>
                      <a:ea typeface="Hiragino Sans W4" panose="020B0400000000000000" pitchFamily="34" charset="-128"/>
                    </a:endParaRPr>
                  </a:p>
                </p:txBody>
              </p:sp>
            </mc:Choice>
            <mc:Fallback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CDBFAD5B-B76C-D156-3835-D06DBAA652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6684" y="3266543"/>
                    <a:ext cx="2183176" cy="95410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335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角丸四角形 23">
                  <a:extLst>
                    <a:ext uri="{FF2B5EF4-FFF2-40B4-BE49-F238E27FC236}">
                      <a16:creationId xmlns:a16="http://schemas.microsoft.com/office/drawing/2014/main" id="{54C3F10B-8919-44F1-FFE4-FFF6D189FAED}"/>
                    </a:ext>
                  </a:extLst>
                </p:cNvPr>
                <p:cNvSpPr/>
                <p:nvPr/>
              </p:nvSpPr>
              <p:spPr>
                <a:xfrm>
                  <a:off x="606840" y="593541"/>
                  <a:ext cx="4736342" cy="2048450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kumimoji="1"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=20.6</m:t>
                        </m:r>
                      </m:oMath>
                    </m:oMathPara>
                  </a14:m>
                  <a:endParaRPr kumimoji="1" lang="en-US" altLang="ja-JP" sz="32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:r>
                    <a:rPr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この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は真の値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からかけ離れているかもしれない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…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🤔</a:t>
                  </a:r>
                </a:p>
              </p:txBody>
            </p:sp>
          </mc:Choice>
          <mc:Fallback>
            <p:sp>
              <p:nvSpPr>
                <p:cNvPr id="24" name="角丸四角形 23">
                  <a:extLst>
                    <a:ext uri="{FF2B5EF4-FFF2-40B4-BE49-F238E27FC236}">
                      <a16:creationId xmlns:a16="http://schemas.microsoft.com/office/drawing/2014/main" id="{54C3F10B-8919-44F1-FFE4-FFF6D189FA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840" y="593541"/>
                  <a:ext cx="4736342" cy="2048450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角丸四角形 25">
                  <a:extLst>
                    <a:ext uri="{FF2B5EF4-FFF2-40B4-BE49-F238E27FC236}">
                      <a16:creationId xmlns:a16="http://schemas.microsoft.com/office/drawing/2014/main" id="{3EE22B7E-3C32-EC99-AA2A-53AE13AFBDEF}"/>
                    </a:ext>
                  </a:extLst>
                </p:cNvPr>
                <p:cNvSpPr/>
                <p:nvPr/>
              </p:nvSpPr>
              <p:spPr>
                <a:xfrm>
                  <a:off x="606840" y="4216010"/>
                  <a:ext cx="4736342" cy="2048450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n=10,000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kumimoji="1"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=20.6</m:t>
                        </m:r>
                      </m:oMath>
                    </m:oMathPara>
                  </a14:m>
                  <a:endParaRPr kumimoji="1" lang="en-US" altLang="ja-JP" sz="32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:r>
                    <a:rPr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この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は真の値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にたぶんめっちゃ近い！🤗</a:t>
                  </a:r>
                </a:p>
              </p:txBody>
            </p:sp>
          </mc:Choice>
          <mc:Fallback>
            <p:sp>
              <p:nvSpPr>
                <p:cNvPr id="26" name="角丸四角形 25">
                  <a:extLst>
                    <a:ext uri="{FF2B5EF4-FFF2-40B4-BE49-F238E27FC236}">
                      <a16:creationId xmlns:a16="http://schemas.microsoft.com/office/drawing/2014/main" id="{3EE22B7E-3C32-EC99-AA2A-53AE13AFBD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840" y="4216010"/>
                  <a:ext cx="4736342" cy="2048450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右矢印 27">
              <a:extLst>
                <a:ext uri="{FF2B5EF4-FFF2-40B4-BE49-F238E27FC236}">
                  <a16:creationId xmlns:a16="http://schemas.microsoft.com/office/drawing/2014/main" id="{9291BF36-D7D8-09C1-166C-CE12A4594F81}"/>
                </a:ext>
              </a:extLst>
            </p:cNvPr>
            <p:cNvSpPr/>
            <p:nvPr/>
          </p:nvSpPr>
          <p:spPr>
            <a:xfrm flipH="1">
              <a:off x="5780180" y="966565"/>
              <a:ext cx="2592638" cy="130240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右矢印 28">
              <a:extLst>
                <a:ext uri="{FF2B5EF4-FFF2-40B4-BE49-F238E27FC236}">
                  <a16:creationId xmlns:a16="http://schemas.microsoft.com/office/drawing/2014/main" id="{AAEEB71D-123E-03B0-B394-44AD9C31ABC6}"/>
                </a:ext>
              </a:extLst>
            </p:cNvPr>
            <p:cNvSpPr/>
            <p:nvPr/>
          </p:nvSpPr>
          <p:spPr>
            <a:xfrm flipH="1">
              <a:off x="5780180" y="4589035"/>
              <a:ext cx="2592638" cy="130240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213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1288</TotalTime>
  <Words>441</Words>
  <Application>Microsoft Macintosh PowerPoint</Application>
  <PresentationFormat>ワイド画面</PresentationFormat>
  <Paragraphs>110</Paragraphs>
  <Slides>10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HGPSoeiKakugothicUB</vt:lpstr>
      <vt:lpstr>Hiragino Sans W4</vt:lpstr>
      <vt:lpstr>Hiragino Sans W8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SUZUKI JUNPEI</cp:lastModifiedBy>
  <cp:revision>12</cp:revision>
  <dcterms:created xsi:type="dcterms:W3CDTF">2026-01-12T09:29:13Z</dcterms:created>
  <dcterms:modified xsi:type="dcterms:W3CDTF">2026-09-16T05:37:38Z</dcterms:modified>
</cp:coreProperties>
</file>